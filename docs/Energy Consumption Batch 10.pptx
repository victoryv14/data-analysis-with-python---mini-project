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4"/>
  </p:notesMasterIdLst>
  <p:handoutMasterIdLst>
    <p:handoutMasterId r:id="rId15"/>
  </p:handoutMasterIdLst>
  <p:sldIdLst>
    <p:sldId id="256" r:id="rId2"/>
    <p:sldId id="430" r:id="rId3"/>
    <p:sldId id="431" r:id="rId4"/>
    <p:sldId id="432" r:id="rId5"/>
    <p:sldId id="578" r:id="rId6"/>
    <p:sldId id="572" r:id="rId7"/>
    <p:sldId id="580" r:id="rId8"/>
    <p:sldId id="582" r:id="rId9"/>
    <p:sldId id="583" r:id="rId10"/>
    <p:sldId id="573" r:id="rId11"/>
    <p:sldId id="581" r:id="rId12"/>
    <p:sldId id="57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A35AF4-8CF5-4528-9467-4493378FB1C1}" v="8" dt="2026-08-13T09:25:18.9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p:cViewPr varScale="1">
        <p:scale>
          <a:sx n="84" d="100"/>
          <a:sy n="84" d="100"/>
        </p:scale>
        <p:origin x="629"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8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ala Harini" userId="a43fac1939f8d205" providerId="LiveId" clId="{E7A54BC8-65DA-4538-AAED-9F147DC6437B}"/>
    <pc:docChg chg="custSel modSld">
      <pc:chgData name="Pasala Harini" userId="a43fac1939f8d205" providerId="LiveId" clId="{E7A54BC8-65DA-4538-AAED-9F147DC6437B}" dt="2026-08-13T09:30:33.814" v="223" actId="20577"/>
      <pc:docMkLst>
        <pc:docMk/>
      </pc:docMkLst>
      <pc:sldChg chg="addSp modSp mod">
        <pc:chgData name="Pasala Harini" userId="a43fac1939f8d205" providerId="LiveId" clId="{E7A54BC8-65DA-4538-AAED-9F147DC6437B}" dt="2026-08-13T09:27:16.964" v="187" actId="113"/>
        <pc:sldMkLst>
          <pc:docMk/>
          <pc:sldMk cId="0" sldId="256"/>
        </pc:sldMkLst>
        <pc:spChg chg="add mod">
          <ac:chgData name="Pasala Harini" userId="a43fac1939f8d205" providerId="LiveId" clId="{E7A54BC8-65DA-4538-AAED-9F147DC6437B}" dt="2026-08-13T09:27:16.964" v="187" actId="113"/>
          <ac:spMkLst>
            <pc:docMk/>
            <pc:sldMk cId="0" sldId="256"/>
            <ac:spMk id="2" creationId="{0624C738-684E-1B58-6CCC-8E8D9A043AA0}"/>
          </ac:spMkLst>
        </pc:spChg>
        <pc:spChg chg="mod">
          <ac:chgData name="Pasala Harini" userId="a43fac1939f8d205" providerId="LiveId" clId="{E7A54BC8-65DA-4538-AAED-9F147DC6437B}" dt="2026-08-13T09:25:15.421" v="8" actId="14100"/>
          <ac:spMkLst>
            <pc:docMk/>
            <pc:sldMk cId="0" sldId="256"/>
            <ac:spMk id="6" creationId="{00000000-0000-0000-0000-000000000000}"/>
          </ac:spMkLst>
        </pc:spChg>
      </pc:sldChg>
      <pc:sldChg chg="modSp mod">
        <pc:chgData name="Pasala Harini" userId="a43fac1939f8d205" providerId="LiveId" clId="{E7A54BC8-65DA-4538-AAED-9F147DC6437B}" dt="2026-08-13T09:30:33.814" v="223" actId="20577"/>
        <pc:sldMkLst>
          <pc:docMk/>
          <pc:sldMk cId="2680478113" sldId="430"/>
        </pc:sldMkLst>
        <pc:spChg chg="mod">
          <ac:chgData name="Pasala Harini" userId="a43fac1939f8d205" providerId="LiveId" clId="{E7A54BC8-65DA-4538-AAED-9F147DC6437B}" dt="2026-08-13T09:30:33.814" v="223" actId="20577"/>
          <ac:spMkLst>
            <pc:docMk/>
            <pc:sldMk cId="2680478113" sldId="430"/>
            <ac:spMk id="7" creationId="{C8EF13C9-42FB-60ED-8B2A-1C9B552DE041}"/>
          </ac:spMkLst>
        </pc:spChg>
      </pc:sldChg>
      <pc:sldChg chg="modSp mod">
        <pc:chgData name="Pasala Harini" userId="a43fac1939f8d205" providerId="LiveId" clId="{E7A54BC8-65DA-4538-AAED-9F147DC6437B}" dt="2026-08-13T09:20:59.766" v="6" actId="123"/>
        <pc:sldMkLst>
          <pc:docMk/>
          <pc:sldMk cId="2803802370" sldId="431"/>
        </pc:sldMkLst>
        <pc:spChg chg="mod">
          <ac:chgData name="Pasala Harini" userId="a43fac1939f8d205" providerId="LiveId" clId="{E7A54BC8-65DA-4538-AAED-9F147DC6437B}" dt="2026-08-13T09:20:59.766" v="6" actId="123"/>
          <ac:spMkLst>
            <pc:docMk/>
            <pc:sldMk cId="2803802370" sldId="431"/>
            <ac:spMk id="7" creationId="{C4B12F71-216B-4B4A-9933-2017B3D46F1E}"/>
          </ac:spMkLst>
        </pc:spChg>
      </pc:sldChg>
      <pc:sldChg chg="modSp mod">
        <pc:chgData name="Pasala Harini" userId="a43fac1939f8d205" providerId="LiveId" clId="{E7A54BC8-65DA-4538-AAED-9F147DC6437B}" dt="2026-08-13T04:58:31.046" v="0" actId="207"/>
        <pc:sldMkLst>
          <pc:docMk/>
          <pc:sldMk cId="4210108629" sldId="573"/>
        </pc:sldMkLst>
        <pc:spChg chg="mod">
          <ac:chgData name="Pasala Harini" userId="a43fac1939f8d205" providerId="LiveId" clId="{E7A54BC8-65DA-4538-AAED-9F147DC6437B}" dt="2026-08-13T04:58:31.046" v="0" actId="207"/>
          <ac:spMkLst>
            <pc:docMk/>
            <pc:sldMk cId="4210108629" sldId="573"/>
            <ac:spMk id="6" creationId="{7862E4AC-212E-43EC-956C-B30F3E8CC9D6}"/>
          </ac:spMkLst>
        </pc:spChg>
      </pc:sldChg>
      <pc:sldChg chg="modSp mod">
        <pc:chgData name="Pasala Harini" userId="a43fac1939f8d205" providerId="LiveId" clId="{E7A54BC8-65DA-4538-AAED-9F147DC6437B}" dt="2026-08-13T04:58:38.804" v="1" actId="207"/>
        <pc:sldMkLst>
          <pc:docMk/>
          <pc:sldMk cId="4128008891" sldId="579"/>
        </pc:sldMkLst>
        <pc:spChg chg="mod">
          <ac:chgData name="Pasala Harini" userId="a43fac1939f8d205" providerId="LiveId" clId="{E7A54BC8-65DA-4538-AAED-9F147DC6437B}" dt="2026-08-13T04:58:38.804" v="1" actId="207"/>
          <ac:spMkLst>
            <pc:docMk/>
            <pc:sldMk cId="4128008891" sldId="579"/>
            <ac:spMk id="5" creationId="{27B092A7-C8FE-DDFF-6681-101FCF685C26}"/>
          </ac:spMkLst>
        </pc:spChg>
      </pc:sldChg>
    </pc:docChg>
  </pc:docChgLst>
  <pc:docChgLst>
    <pc:chgData name="Vamsi Kalyan" userId="8e3309865dcbe86c" providerId="LiveId" clId="{C46A06EE-3EB6-444D-9732-E5556C53EE6D}"/>
    <pc:docChg chg="custSel addSld modSld sldOrd">
      <pc:chgData name="Vamsi Kalyan" userId="8e3309865dcbe86c" providerId="LiveId" clId="{C46A06EE-3EB6-444D-9732-E5556C53EE6D}" dt="2026-08-13T09:49:58.733" v="136" actId="1076"/>
      <pc:docMkLst>
        <pc:docMk/>
      </pc:docMkLst>
      <pc:sldChg chg="modSp mod">
        <pc:chgData name="Vamsi Kalyan" userId="8e3309865dcbe86c" providerId="LiveId" clId="{C46A06EE-3EB6-444D-9732-E5556C53EE6D}" dt="2026-08-13T09:39:37.222" v="38" actId="20577"/>
        <pc:sldMkLst>
          <pc:docMk/>
          <pc:sldMk cId="0" sldId="256"/>
        </pc:sldMkLst>
        <pc:spChg chg="mod">
          <ac:chgData name="Vamsi Kalyan" userId="8e3309865dcbe86c" providerId="LiveId" clId="{C46A06EE-3EB6-444D-9732-E5556C53EE6D}" dt="2026-08-13T09:39:37.222" v="38" actId="20577"/>
          <ac:spMkLst>
            <pc:docMk/>
            <pc:sldMk cId="0" sldId="256"/>
            <ac:spMk id="2" creationId="{0624C738-684E-1B58-6CCC-8E8D9A043AA0}"/>
          </ac:spMkLst>
        </pc:spChg>
        <pc:spChg chg="mod">
          <ac:chgData name="Vamsi Kalyan" userId="8e3309865dcbe86c" providerId="LiveId" clId="{C46A06EE-3EB6-444D-9732-E5556C53EE6D}" dt="2026-08-13T09:39:11.465" v="6" actId="1076"/>
          <ac:spMkLst>
            <pc:docMk/>
            <pc:sldMk cId="0" sldId="256"/>
            <ac:spMk id="4" creationId="{00000000-0000-0000-0000-000000000000}"/>
          </ac:spMkLst>
        </pc:spChg>
        <pc:spChg chg="mod">
          <ac:chgData name="Vamsi Kalyan" userId="8e3309865dcbe86c" providerId="LiveId" clId="{C46A06EE-3EB6-444D-9732-E5556C53EE6D}" dt="2026-08-13T09:39:15.898" v="7" actId="1076"/>
          <ac:spMkLst>
            <pc:docMk/>
            <pc:sldMk cId="0" sldId="256"/>
            <ac:spMk id="6" creationId="{00000000-0000-0000-0000-000000000000}"/>
          </ac:spMkLst>
        </pc:spChg>
      </pc:sldChg>
      <pc:sldChg chg="addSp modSp mod">
        <pc:chgData name="Vamsi Kalyan" userId="8e3309865dcbe86c" providerId="LiveId" clId="{C46A06EE-3EB6-444D-9732-E5556C53EE6D}" dt="2026-08-13T09:41:06.370" v="52" actId="1076"/>
        <pc:sldMkLst>
          <pc:docMk/>
          <pc:sldMk cId="969609640" sldId="572"/>
        </pc:sldMkLst>
        <pc:spChg chg="mod">
          <ac:chgData name="Vamsi Kalyan" userId="8e3309865dcbe86c" providerId="LiveId" clId="{C46A06EE-3EB6-444D-9732-E5556C53EE6D}" dt="2026-08-13T09:40:23.110" v="47" actId="20577"/>
          <ac:spMkLst>
            <pc:docMk/>
            <pc:sldMk cId="969609640" sldId="572"/>
            <ac:spMk id="5" creationId="{7FCE3D1F-FE03-C000-DBE7-358E0F77A41D}"/>
          </ac:spMkLst>
        </pc:spChg>
        <pc:picChg chg="add mod">
          <ac:chgData name="Vamsi Kalyan" userId="8e3309865dcbe86c" providerId="LiveId" clId="{C46A06EE-3EB6-444D-9732-E5556C53EE6D}" dt="2026-08-13T09:41:06.370" v="52" actId="1076"/>
          <ac:picMkLst>
            <pc:docMk/>
            <pc:sldMk cId="969609640" sldId="572"/>
            <ac:picMk id="3" creationId="{5F4513AA-7A2F-3ACC-BB73-F5319B788AD2}"/>
          </ac:picMkLst>
        </pc:picChg>
      </pc:sldChg>
      <pc:sldChg chg="addSp modSp mod">
        <pc:chgData name="Vamsi Kalyan" userId="8e3309865dcbe86c" providerId="LiveId" clId="{C46A06EE-3EB6-444D-9732-E5556C53EE6D}" dt="2026-08-13T09:47:30.535" v="119" actId="1076"/>
        <pc:sldMkLst>
          <pc:docMk/>
          <pc:sldMk cId="4210108629" sldId="573"/>
        </pc:sldMkLst>
        <pc:spChg chg="mod">
          <ac:chgData name="Vamsi Kalyan" userId="8e3309865dcbe86c" providerId="LiveId" clId="{C46A06EE-3EB6-444D-9732-E5556C53EE6D}" dt="2026-08-13T09:45:45.367" v="104" actId="20577"/>
          <ac:spMkLst>
            <pc:docMk/>
            <pc:sldMk cId="4210108629" sldId="573"/>
            <ac:spMk id="5" creationId="{1A3D2A67-5C04-F19E-BFB0-2BBC6E3C79EE}"/>
          </ac:spMkLst>
        </pc:spChg>
        <pc:picChg chg="add mod modCrop">
          <ac:chgData name="Vamsi Kalyan" userId="8e3309865dcbe86c" providerId="LiveId" clId="{C46A06EE-3EB6-444D-9732-E5556C53EE6D}" dt="2026-08-13T09:46:18.025" v="108" actId="1076"/>
          <ac:picMkLst>
            <pc:docMk/>
            <pc:sldMk cId="4210108629" sldId="573"/>
            <ac:picMk id="3" creationId="{25D9A582-7444-6A7E-F30B-A2675A8D26D9}"/>
          </ac:picMkLst>
        </pc:picChg>
        <pc:picChg chg="add mod modCrop">
          <ac:chgData name="Vamsi Kalyan" userId="8e3309865dcbe86c" providerId="LiveId" clId="{C46A06EE-3EB6-444D-9732-E5556C53EE6D}" dt="2026-08-13T09:47:26.234" v="118" actId="1076"/>
          <ac:picMkLst>
            <pc:docMk/>
            <pc:sldMk cId="4210108629" sldId="573"/>
            <ac:picMk id="7" creationId="{73881C6C-EEE5-10BB-78A8-18C29E4A520C}"/>
          </ac:picMkLst>
        </pc:picChg>
        <pc:picChg chg="add mod">
          <ac:chgData name="Vamsi Kalyan" userId="8e3309865dcbe86c" providerId="LiveId" clId="{C46A06EE-3EB6-444D-9732-E5556C53EE6D}" dt="2026-08-13T09:47:30.535" v="119" actId="1076"/>
          <ac:picMkLst>
            <pc:docMk/>
            <pc:sldMk cId="4210108629" sldId="573"/>
            <ac:picMk id="9" creationId="{6F68061D-C4B0-F214-C528-4954FB12A6E8}"/>
          </ac:picMkLst>
        </pc:picChg>
      </pc:sldChg>
      <pc:sldChg chg="addSp modSp add mod">
        <pc:chgData name="Vamsi Kalyan" userId="8e3309865dcbe86c" providerId="LiveId" clId="{C46A06EE-3EB6-444D-9732-E5556C53EE6D}" dt="2026-08-13T09:42:40.875" v="67" actId="1076"/>
        <pc:sldMkLst>
          <pc:docMk/>
          <pc:sldMk cId="1551062153" sldId="580"/>
        </pc:sldMkLst>
        <pc:spChg chg="mod">
          <ac:chgData name="Vamsi Kalyan" userId="8e3309865dcbe86c" providerId="LiveId" clId="{C46A06EE-3EB6-444D-9732-E5556C53EE6D}" dt="2026-08-13T09:41:29.773" v="56" actId="1076"/>
          <ac:spMkLst>
            <pc:docMk/>
            <pc:sldMk cId="1551062153" sldId="580"/>
            <ac:spMk id="5" creationId="{92711EC5-1B4F-4A38-70EE-6EF19D700A29}"/>
          </ac:spMkLst>
        </pc:spChg>
        <pc:picChg chg="add mod">
          <ac:chgData name="Vamsi Kalyan" userId="8e3309865dcbe86c" providerId="LiveId" clId="{C46A06EE-3EB6-444D-9732-E5556C53EE6D}" dt="2026-08-13T09:42:25.652" v="63" actId="14100"/>
          <ac:picMkLst>
            <pc:docMk/>
            <pc:sldMk cId="1551062153" sldId="580"/>
            <ac:picMk id="3" creationId="{3C3BD0CA-668F-1F53-D54A-221AE773B462}"/>
          </ac:picMkLst>
        </pc:picChg>
        <pc:picChg chg="add mod">
          <ac:chgData name="Vamsi Kalyan" userId="8e3309865dcbe86c" providerId="LiveId" clId="{C46A06EE-3EB6-444D-9732-E5556C53EE6D}" dt="2026-08-13T09:42:28.106" v="64" actId="1076"/>
          <ac:picMkLst>
            <pc:docMk/>
            <pc:sldMk cId="1551062153" sldId="580"/>
            <ac:picMk id="7" creationId="{EC70A956-D7D4-2391-E754-AC878EF550ED}"/>
          </ac:picMkLst>
        </pc:picChg>
        <pc:picChg chg="add mod">
          <ac:chgData name="Vamsi Kalyan" userId="8e3309865dcbe86c" providerId="LiveId" clId="{C46A06EE-3EB6-444D-9732-E5556C53EE6D}" dt="2026-08-13T09:42:40.875" v="67" actId="1076"/>
          <ac:picMkLst>
            <pc:docMk/>
            <pc:sldMk cId="1551062153" sldId="580"/>
            <ac:picMk id="9" creationId="{AFED696B-06E5-4E7A-FDD5-2B982AA1144E}"/>
          </ac:picMkLst>
        </pc:picChg>
      </pc:sldChg>
      <pc:sldChg chg="addSp modSp add mod">
        <pc:chgData name="Vamsi Kalyan" userId="8e3309865dcbe86c" providerId="LiveId" clId="{C46A06EE-3EB6-444D-9732-E5556C53EE6D}" dt="2026-08-13T09:49:58.733" v="136" actId="1076"/>
        <pc:sldMkLst>
          <pc:docMk/>
          <pc:sldMk cId="1252088719" sldId="581"/>
        </pc:sldMkLst>
        <pc:spChg chg="mod">
          <ac:chgData name="Vamsi Kalyan" userId="8e3309865dcbe86c" providerId="LiveId" clId="{C46A06EE-3EB6-444D-9732-E5556C53EE6D}" dt="2026-08-13T09:49:58.733" v="136" actId="1076"/>
          <ac:spMkLst>
            <pc:docMk/>
            <pc:sldMk cId="1252088719" sldId="581"/>
            <ac:spMk id="5" creationId="{3AB1DA72-960C-A29A-D6CA-F40106A859DD}"/>
          </ac:spMkLst>
        </pc:spChg>
        <pc:picChg chg="add mod">
          <ac:chgData name="Vamsi Kalyan" userId="8e3309865dcbe86c" providerId="LiveId" clId="{C46A06EE-3EB6-444D-9732-E5556C53EE6D}" dt="2026-08-13T09:49:34.203" v="127" actId="1076"/>
          <ac:picMkLst>
            <pc:docMk/>
            <pc:sldMk cId="1252088719" sldId="581"/>
            <ac:picMk id="3" creationId="{E156C1BC-822E-FBDA-82C1-137B2E7F85EE}"/>
          </ac:picMkLst>
        </pc:picChg>
      </pc:sldChg>
      <pc:sldChg chg="addSp delSp modSp add mod ord">
        <pc:chgData name="Vamsi Kalyan" userId="8e3309865dcbe86c" providerId="LiveId" clId="{C46A06EE-3EB6-444D-9732-E5556C53EE6D}" dt="2026-08-13T09:45:19.934" v="101" actId="1076"/>
        <pc:sldMkLst>
          <pc:docMk/>
          <pc:sldMk cId="2305683475" sldId="582"/>
        </pc:sldMkLst>
        <pc:spChg chg="mod">
          <ac:chgData name="Vamsi Kalyan" userId="8e3309865dcbe86c" providerId="LiveId" clId="{C46A06EE-3EB6-444D-9732-E5556C53EE6D}" dt="2026-08-13T09:45:19.934" v="101" actId="1076"/>
          <ac:spMkLst>
            <pc:docMk/>
            <pc:sldMk cId="2305683475" sldId="582"/>
            <ac:spMk id="5" creationId="{0DEBCEC4-7319-EA14-A623-46C2DA843DC9}"/>
          </ac:spMkLst>
        </pc:spChg>
        <pc:picChg chg="add mod modCrop">
          <ac:chgData name="Vamsi Kalyan" userId="8e3309865dcbe86c" providerId="LiveId" clId="{C46A06EE-3EB6-444D-9732-E5556C53EE6D}" dt="2026-08-13T09:45:15.405" v="100" actId="1076"/>
          <ac:picMkLst>
            <pc:docMk/>
            <pc:sldMk cId="2305683475" sldId="582"/>
            <ac:picMk id="3" creationId="{DC258007-DA6E-102E-F099-241DA162CA2D}"/>
          </ac:picMkLst>
        </pc:picChg>
        <pc:picChg chg="add del mod">
          <ac:chgData name="Vamsi Kalyan" userId="8e3309865dcbe86c" providerId="LiveId" clId="{C46A06EE-3EB6-444D-9732-E5556C53EE6D}" dt="2026-08-13T09:45:02.558" v="97" actId="478"/>
          <ac:picMkLst>
            <pc:docMk/>
            <pc:sldMk cId="2305683475" sldId="582"/>
            <ac:picMk id="7" creationId="{9BAA9DC0-6F9B-A84A-311B-1EE665C28829}"/>
          </ac:picMkLst>
        </pc:picChg>
      </pc:sldChg>
      <pc:sldChg chg="delSp modSp add mod">
        <pc:chgData name="Vamsi Kalyan" userId="8e3309865dcbe86c" providerId="LiveId" clId="{C46A06EE-3EB6-444D-9732-E5556C53EE6D}" dt="2026-08-13T09:44:56.465" v="96" actId="1076"/>
        <pc:sldMkLst>
          <pc:docMk/>
          <pc:sldMk cId="3107207361" sldId="583"/>
        </pc:sldMkLst>
        <pc:spChg chg="del mod">
          <ac:chgData name="Vamsi Kalyan" userId="8e3309865dcbe86c" providerId="LiveId" clId="{C46A06EE-3EB6-444D-9732-E5556C53EE6D}" dt="2026-08-13T09:44:46.548" v="93"/>
          <ac:spMkLst>
            <pc:docMk/>
            <pc:sldMk cId="3107207361" sldId="583"/>
            <ac:spMk id="5" creationId="{95DD191E-E359-CC76-6556-13086D4F434C}"/>
          </ac:spMkLst>
        </pc:spChg>
        <pc:picChg chg="del">
          <ac:chgData name="Vamsi Kalyan" userId="8e3309865dcbe86c" providerId="LiveId" clId="{C46A06EE-3EB6-444D-9732-E5556C53EE6D}" dt="2026-08-13T09:44:36.255" v="89" actId="478"/>
          <ac:picMkLst>
            <pc:docMk/>
            <pc:sldMk cId="3107207361" sldId="583"/>
            <ac:picMk id="3" creationId="{1925E379-1DFD-71DF-F060-852BA03E13AE}"/>
          </ac:picMkLst>
        </pc:picChg>
        <pc:picChg chg="mod">
          <ac:chgData name="Vamsi Kalyan" userId="8e3309865dcbe86c" providerId="LiveId" clId="{C46A06EE-3EB6-444D-9732-E5556C53EE6D}" dt="2026-08-13T09:44:56.465" v="96" actId="1076"/>
          <ac:picMkLst>
            <pc:docMk/>
            <pc:sldMk cId="3107207361" sldId="583"/>
            <ac:picMk id="7" creationId="{C160FCA0-531F-2319-950E-C72B5840500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2DB80D-D8DC-40C9-8603-2D92EB853E85}" type="datetimeFigureOut">
              <a:rPr lang="en-US" smtClean="0"/>
              <a:pPr/>
              <a:t>8/13/2026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B72EF51-F63D-488E-9B3C-4A470AE4E6F5}"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8/13/2026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extLst>
      <p:ext uri="{BB962C8B-B14F-4D97-AF65-F5344CB8AC3E}">
        <p14:creationId xmlns:p14="http://schemas.microsoft.com/office/powerpoint/2010/main" val="20256349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54199"/>
            <a:ext cx="9144000" cy="1655763"/>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1125AD38-0796-B4A0-F437-8C37B4D1B9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567608" y="592088"/>
            <a:ext cx="7609140" cy="1008112"/>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0" name="Date Placeholder 2">
            <a:extLst>
              <a:ext uri="{FF2B5EF4-FFF2-40B4-BE49-F238E27FC236}">
                <a16:creationId xmlns:a16="http://schemas.microsoft.com/office/drawing/2014/main" id="{C8CBE8F9-096B-48BD-AF91-C68E84B4AE0C}"/>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13-08-2026</a:t>
            </a:fld>
            <a:endParaRPr lang="en-US" dirty="0"/>
          </a:p>
        </p:txBody>
      </p:sp>
      <p:sp>
        <p:nvSpPr>
          <p:cNvPr id="11" name="Footer Placeholder 3">
            <a:extLst>
              <a:ext uri="{FF2B5EF4-FFF2-40B4-BE49-F238E27FC236}">
                <a16:creationId xmlns:a16="http://schemas.microsoft.com/office/drawing/2014/main" id="{9B80BD04-4FB9-48ED-8F04-82E1E9B47D6D}"/>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Course Name                                                                Faculty Name, Designation, Dept.</a:t>
            </a:r>
          </a:p>
        </p:txBody>
      </p:sp>
      <p:pic>
        <p:nvPicPr>
          <p:cNvPr id="1026" name="Picture 2">
            <a:extLst>
              <a:ext uri="{FF2B5EF4-FFF2-40B4-BE49-F238E27FC236}">
                <a16:creationId xmlns:a16="http://schemas.microsoft.com/office/drawing/2014/main" id="{A51A2048-2A34-7FBF-43D5-D3D3725F2AF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504257EF-5910-55BD-B426-CB8A9D6AA207}"/>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9367759-B4C6-4477-29E7-48E08870C81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40709" y="-243408"/>
            <a:ext cx="3249644" cy="1800000"/>
          </a:xfrm>
          <a:prstGeom prst="rect">
            <a:avLst/>
          </a:prstGeom>
          <a:noFill/>
          <a:extLst>
            <a:ext uri="{909E8E84-426E-40DD-AFC4-6F175D3DCCD1}">
              <a14:hiddenFill xmlns:a14="http://schemas.microsoft.com/office/drawing/2010/main">
                <a:solidFill>
                  <a:srgbClr val="FFFFFF"/>
                </a:solidFill>
              </a14:hiddenFill>
            </a:ext>
          </a:extLst>
        </p:spPr>
      </p:pic>
      <p:sp>
        <p:nvSpPr>
          <p:cNvPr id="6" name="Date Placeholder 2">
            <a:extLst>
              <a:ext uri="{FF2B5EF4-FFF2-40B4-BE49-F238E27FC236}">
                <a16:creationId xmlns:a16="http://schemas.microsoft.com/office/drawing/2014/main" id="{DBBF301A-453A-BED0-C53C-37286AA00C5A}"/>
              </a:ext>
            </a:extLst>
          </p:cNvPr>
          <p:cNvSpPr>
            <a:spLocks noGrp="1"/>
          </p:cNvSpPr>
          <p:nvPr>
            <p:ph type="dt" sz="half" idx="11"/>
          </p:nvPr>
        </p:nvSpPr>
        <p:spPr>
          <a:xfrm>
            <a:off x="695400" y="6278770"/>
            <a:ext cx="1656183" cy="365125"/>
          </a:xfrm>
          <a:ln>
            <a:noFill/>
          </a:ln>
        </p:spPr>
        <p:txBody>
          <a:bodyPr/>
          <a:lstStyle>
            <a:lvl1pPr>
              <a:defRPr b="1">
                <a:solidFill>
                  <a:schemeClr val="bg1">
                    <a:lumMod val="50000"/>
                  </a:schemeClr>
                </a:solidFill>
              </a:defRPr>
            </a:lvl1pPr>
          </a:lstStyle>
          <a:p>
            <a:fld id="{8368060C-F3A5-4600-9262-589A0797613D}" type="datetime1">
              <a:rPr lang="en-IN" smtClean="0"/>
              <a:pPr/>
              <a:t>13-08-2026</a:t>
            </a:fld>
            <a:endParaRPr lang="en-US" dirty="0"/>
          </a:p>
        </p:txBody>
      </p:sp>
      <p:sp>
        <p:nvSpPr>
          <p:cNvPr id="7" name="Footer Placeholder 3">
            <a:extLst>
              <a:ext uri="{FF2B5EF4-FFF2-40B4-BE49-F238E27FC236}">
                <a16:creationId xmlns:a16="http://schemas.microsoft.com/office/drawing/2014/main" id="{1BBB8F58-91C5-AB5A-807E-19452F655655}"/>
              </a:ext>
            </a:extLst>
          </p:cNvPr>
          <p:cNvSpPr>
            <a:spLocks noGrp="1"/>
          </p:cNvSpPr>
          <p:nvPr>
            <p:ph type="ftr" sz="quarter" idx="12"/>
          </p:nvPr>
        </p:nvSpPr>
        <p:spPr>
          <a:xfrm>
            <a:off x="2567608" y="6278771"/>
            <a:ext cx="6912768" cy="365125"/>
          </a:xfrm>
          <a:ln>
            <a:noFill/>
          </a:ln>
        </p:spPr>
        <p:txBody>
          <a:bodyPr/>
          <a:lstStyle>
            <a:lvl1pPr>
              <a:defRPr b="1">
                <a:solidFill>
                  <a:schemeClr val="bg1">
                    <a:lumMod val="50000"/>
                  </a:schemeClr>
                </a:solidFill>
              </a:defRPr>
            </a:lvl1pPr>
          </a:lstStyle>
          <a:p>
            <a:r>
              <a:rPr lang="en-US" dirty="0"/>
              <a:t>Data Science                                                                K </a:t>
            </a:r>
            <a:r>
              <a:rPr lang="en-US" dirty="0" err="1"/>
              <a:t>Vydehi</a:t>
            </a:r>
            <a:r>
              <a:rPr lang="en-US" dirty="0"/>
              <a:t>, </a:t>
            </a:r>
            <a:r>
              <a:rPr lang="en-US" dirty="0" err="1"/>
              <a:t>Asst</a:t>
            </a:r>
            <a:r>
              <a:rPr lang="en-US" dirty="0"/>
              <a:t> Professor, CSE Dept.</a:t>
            </a:r>
          </a:p>
        </p:txBody>
      </p:sp>
      <p:sp>
        <p:nvSpPr>
          <p:cNvPr id="8" name="Slide Number Placeholder 3">
            <a:extLst>
              <a:ext uri="{FF2B5EF4-FFF2-40B4-BE49-F238E27FC236}">
                <a16:creationId xmlns:a16="http://schemas.microsoft.com/office/drawing/2014/main" id="{119C11AA-4309-9F6B-48A3-24FE199327D5}"/>
              </a:ext>
            </a:extLst>
          </p:cNvPr>
          <p:cNvSpPr>
            <a:spLocks noGrp="1"/>
          </p:cNvSpPr>
          <p:nvPr>
            <p:ph type="sldNum" sz="quarter" idx="13"/>
          </p:nvPr>
        </p:nvSpPr>
        <p:spPr>
          <a:xfrm>
            <a:off x="10272464" y="6356350"/>
            <a:ext cx="1081336" cy="365125"/>
          </a:xfrm>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3AD86-BCE5-402A-9A63-AC164DC60237}" type="datetime1">
              <a:rPr lang="en-IN" smtClean="0"/>
              <a:pPr/>
              <a:t>13-08-2026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Name                                                                Faculty Name, Designation, Dept.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9"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703512" y="1484784"/>
            <a:ext cx="9217024" cy="1800200"/>
          </a:xfrm>
          <a:prstGeom prst="rect">
            <a:avLst/>
          </a:prstGeom>
        </p:spPr>
        <p:txBody>
          <a:bodyPr vert="horz" lIns="91440" tIns="45720" rIns="91440" bIns="45720" rtlCol="0" anchor="b">
            <a:noAutofit/>
          </a:bodyPr>
          <a:lstStyle/>
          <a:p>
            <a:pPr lvl="0" algn="ctr" defTabSz="914400">
              <a:lnSpc>
                <a:spcPct val="90000"/>
              </a:lnSpc>
              <a:spcBef>
                <a:spcPct val="0"/>
              </a:spcBef>
              <a:defRPr/>
            </a:pPr>
            <a:r>
              <a:rPr lang="en-IN" sz="36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ENERGY CONSUMPTION ACROSS</a:t>
            </a:r>
          </a:p>
          <a:p>
            <a:pPr lvl="0" algn="ctr" defTabSz="914400">
              <a:lnSpc>
                <a:spcPct val="90000"/>
              </a:lnSpc>
              <a:spcBef>
                <a:spcPct val="0"/>
              </a:spcBef>
              <a:defRPr/>
            </a:pPr>
            <a:r>
              <a:rPr lang="en-IN" sz="3600" b="1"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 BUILDINGS</a:t>
            </a:r>
          </a:p>
          <a:p>
            <a:pPr lvl="0" algn="ctr" defTabSz="914400">
              <a:lnSpc>
                <a:spcPct val="90000"/>
              </a:lnSpc>
              <a:spcBef>
                <a:spcPct val="0"/>
              </a:spcBef>
              <a:defRPr/>
            </a:pPr>
            <a:r>
              <a:rPr lang="en-IN" sz="2000" b="1"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ANALYSIS ESSENTIALS</a:t>
            </a:r>
          </a:p>
        </p:txBody>
      </p:sp>
      <p:sp>
        <p:nvSpPr>
          <p:cNvPr id="6" name="Subtitle 2"/>
          <p:cNvSpPr txBox="1">
            <a:spLocks/>
          </p:cNvSpPr>
          <p:nvPr/>
        </p:nvSpPr>
        <p:spPr>
          <a:xfrm>
            <a:off x="1935238" y="5157192"/>
            <a:ext cx="8960530" cy="1477328"/>
          </a:xfrm>
          <a:prstGeom prst="rect">
            <a:avLst/>
          </a:prstGeom>
        </p:spPr>
        <p:txBody>
          <a:bodyPr vert="horz" lIns="91440" tIns="45720" rIns="91440" bIns="45720" rtlCol="0">
            <a:normAutofit fontScale="92500" lnSpcReduction="10000"/>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UNDER THE SUPERVISION OF</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K Vydehi</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000" dirty="0">
                <a:solidFill>
                  <a:srgbClr val="002060"/>
                </a:solidFill>
                <a:latin typeface="Tw Cen MT" pitchFamily="34" charset="0"/>
              </a:rPr>
              <a:t>Assistant Professor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Department of</a:t>
            </a:r>
            <a:r>
              <a:rPr kumimoji="0" lang="en-US" sz="2000" b="0" i="0" u="none" strike="noStrike" kern="1200" cap="none" spc="0" normalizeH="0" noProof="0" dirty="0">
                <a:ln>
                  <a:noFill/>
                </a:ln>
                <a:solidFill>
                  <a:srgbClr val="002060"/>
                </a:solidFill>
                <a:effectLst/>
                <a:uLnTx/>
                <a:uFillTx/>
                <a:latin typeface="Tw Cen MT" pitchFamily="34" charset="0"/>
                <a:ea typeface="+mn-ea"/>
                <a:cs typeface="+mn-cs"/>
              </a:rPr>
              <a:t> CSE</a:t>
            </a:r>
            <a:r>
              <a:rPr kumimoji="0" lang="en-US" sz="2000" b="0" i="0" u="none" strike="noStrike" kern="1200" cap="none" spc="0" normalizeH="0" baseline="0" noProof="0" dirty="0">
                <a:ln>
                  <a:noFill/>
                </a:ln>
                <a:solidFill>
                  <a:srgbClr val="002060"/>
                </a:solidFill>
                <a:effectLst/>
                <a:uLnTx/>
                <a:uFillTx/>
                <a:latin typeface="Tw Cen MT" pitchFamily="34" charset="0"/>
                <a:ea typeface="+mn-ea"/>
                <a:cs typeface="+mn-cs"/>
              </a:rPr>
              <a:t> </a:t>
            </a:r>
            <a:endParaRPr lang="en-US" sz="2000" dirty="0">
              <a:solidFill>
                <a:srgbClr val="002060"/>
              </a:solidFill>
              <a:latin typeface="Tw Cen MT" pitchFamily="34" charset="0"/>
            </a:endParaRPr>
          </a:p>
        </p:txBody>
      </p:sp>
      <p:sp>
        <p:nvSpPr>
          <p:cNvPr id="2" name="TextBox 1">
            <a:extLst>
              <a:ext uri="{FF2B5EF4-FFF2-40B4-BE49-F238E27FC236}">
                <a16:creationId xmlns:a16="http://schemas.microsoft.com/office/drawing/2014/main" id="{0624C738-684E-1B58-6CCC-8E8D9A043AA0}"/>
              </a:ext>
            </a:extLst>
          </p:cNvPr>
          <p:cNvSpPr txBox="1"/>
          <p:nvPr/>
        </p:nvSpPr>
        <p:spPr>
          <a:xfrm>
            <a:off x="4151784" y="3504120"/>
            <a:ext cx="4824536" cy="1477328"/>
          </a:xfrm>
          <a:prstGeom prst="rect">
            <a:avLst/>
          </a:prstGeom>
          <a:noFill/>
        </p:spPr>
        <p:txBody>
          <a:bodyPr wrap="square" rtlCol="0">
            <a:spAutoFit/>
          </a:bodyPr>
          <a:lstStyle/>
          <a:p>
            <a:r>
              <a:rPr lang="en-IN" b="1" dirty="0"/>
              <a:t>                          TEAM MEMBERS</a:t>
            </a:r>
          </a:p>
          <a:p>
            <a:r>
              <a:rPr lang="en-IN" dirty="0"/>
              <a:t>25B11CS718 – PASALA HARINI</a:t>
            </a:r>
          </a:p>
          <a:p>
            <a:r>
              <a:rPr lang="en-IN" dirty="0"/>
              <a:t>25B11CS517 – LAVETI ROSHINI</a:t>
            </a:r>
          </a:p>
          <a:p>
            <a:r>
              <a:rPr lang="en-IN" dirty="0"/>
              <a:t>25B11CS623 – MUPPANABOINA VAMSI KALYAN</a:t>
            </a:r>
          </a:p>
          <a:p>
            <a:r>
              <a:rPr lang="en-IN" dirty="0"/>
              <a:t>25B11CS700 – PALIVELA PRAHARSHA SAI CHARAN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C4B12F71-216B-4B4A-9933-2017B3D46F1E}"/>
              </a:ext>
            </a:extLst>
          </p:cNvPr>
          <p:cNvSpPr txBox="1">
            <a:spLocks/>
          </p:cNvSpPr>
          <p:nvPr/>
        </p:nvSpPr>
        <p:spPr>
          <a:xfrm>
            <a:off x="869085" y="1561876"/>
            <a:ext cx="10515600" cy="453141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endParaRPr lang="en-US" dirty="0">
              <a:latin typeface="Times New Roman" pitchFamily="18" charset="0"/>
              <a:cs typeface="Times New Roman" pitchFamily="18" charset="0"/>
            </a:endParaRPr>
          </a:p>
          <a:p>
            <a:pPr fontAlgn="auto"/>
            <a:endParaRPr lang="en-US"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862E4AC-212E-43EC-956C-B30F3E8CC9D6}"/>
              </a:ext>
            </a:extLst>
          </p:cNvPr>
          <p:cNvSpPr txBox="1"/>
          <p:nvPr/>
        </p:nvSpPr>
        <p:spPr>
          <a:xfrm>
            <a:off x="1991544" y="575546"/>
            <a:ext cx="8856984" cy="707886"/>
          </a:xfrm>
          <a:prstGeom prst="rect">
            <a:avLst/>
          </a:prstGeom>
          <a:noFill/>
        </p:spPr>
        <p:txBody>
          <a:bodyPr wrap="square" rtlCol="0">
            <a:spAutoFit/>
          </a:bodyPr>
          <a:lstStyle/>
          <a:p>
            <a:pPr algn="ctr"/>
            <a:r>
              <a:rPr lang="en-IN" sz="400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PROBLEM STATEMENT</a:t>
            </a:r>
          </a:p>
        </p:txBody>
      </p:sp>
      <p:sp>
        <p:nvSpPr>
          <p:cNvPr id="7" name="TextBox 6">
            <a:extLst>
              <a:ext uri="{FF2B5EF4-FFF2-40B4-BE49-F238E27FC236}">
                <a16:creationId xmlns:a16="http://schemas.microsoft.com/office/drawing/2014/main" id="{C8EF13C9-42FB-60ED-8B2A-1C9B552DE041}"/>
              </a:ext>
            </a:extLst>
          </p:cNvPr>
          <p:cNvSpPr txBox="1"/>
          <p:nvPr/>
        </p:nvSpPr>
        <p:spPr>
          <a:xfrm>
            <a:off x="1199456" y="1772816"/>
            <a:ext cx="10009112" cy="3970318"/>
          </a:xfrm>
          <a:prstGeom prst="rect">
            <a:avLst/>
          </a:prstGeom>
          <a:noFill/>
        </p:spPr>
        <p:txBody>
          <a:bodyPr wrap="square" rtlCol="0">
            <a:spAutoFit/>
          </a:bodyPr>
          <a:lstStyle/>
          <a:p>
            <a:pPr algn="just"/>
            <a:r>
              <a:rPr lang="en-IN" sz="2800" dirty="0"/>
              <a:t>Buildings account for a significant portion of global energy consumption, yet many operate inefficiently due to factors such as occupancy patterns, weather conditions, building type, and equipment usage. Without proper analysis, it is difficult to identify energy wastage and opportunities for optimization. This project aims to analyze energy consumption across different buildings to uncover patterns, detect abnormalities, and provide data-driven recommendations for improving energy efficiency and reducing operational costs.</a:t>
            </a:r>
          </a:p>
        </p:txBody>
      </p:sp>
    </p:spTree>
    <p:extLst>
      <p:ext uri="{BB962C8B-B14F-4D97-AF65-F5344CB8AC3E}">
        <p14:creationId xmlns:p14="http://schemas.microsoft.com/office/powerpoint/2010/main" val="2680478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62E4AC-212E-43EC-956C-B30F3E8CC9D6}"/>
              </a:ext>
            </a:extLst>
          </p:cNvPr>
          <p:cNvSpPr txBox="1"/>
          <p:nvPr/>
        </p:nvSpPr>
        <p:spPr>
          <a:xfrm>
            <a:off x="2711624" y="642918"/>
            <a:ext cx="7128792" cy="707886"/>
          </a:xfrm>
          <a:prstGeom prst="rect">
            <a:avLst/>
          </a:prstGeom>
          <a:noFill/>
        </p:spPr>
        <p:txBody>
          <a:bodyPr wrap="square" rtlCol="0">
            <a:spAutoFit/>
          </a:bodyPr>
          <a:lstStyle/>
          <a:p>
            <a:pPr algn="ctr"/>
            <a:r>
              <a:rPr lang="en-IN" sz="40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OBJECTIVES</a:t>
            </a:r>
          </a:p>
        </p:txBody>
      </p:sp>
      <p:sp>
        <p:nvSpPr>
          <p:cNvPr id="7" name="Content Placeholder 1">
            <a:extLst>
              <a:ext uri="{FF2B5EF4-FFF2-40B4-BE49-F238E27FC236}">
                <a16:creationId xmlns:a16="http://schemas.microsoft.com/office/drawing/2014/main" id="{C4B12F71-216B-4B4A-9933-2017B3D46F1E}"/>
              </a:ext>
            </a:extLst>
          </p:cNvPr>
          <p:cNvSpPr txBox="1">
            <a:spLocks/>
          </p:cNvSpPr>
          <p:nvPr/>
        </p:nvSpPr>
        <p:spPr>
          <a:xfrm>
            <a:off x="869085" y="1772816"/>
            <a:ext cx="10515600" cy="4320479"/>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IN" sz="3200" dirty="0"/>
              <a:t>Collect and analyze energy consumption data from multiple buildings. </a:t>
            </a:r>
          </a:p>
          <a:p>
            <a:pPr lvl="0" algn="just"/>
            <a:r>
              <a:rPr lang="en-IN" sz="3200" dirty="0"/>
              <a:t>Compare energy usage across different building types (e.g., residential, commercial, educational). </a:t>
            </a:r>
          </a:p>
          <a:p>
            <a:pPr lvl="0" algn="just"/>
            <a:r>
              <a:rPr lang="en-IN" sz="3200" dirty="0"/>
              <a:t>Identify the key factors influencing energy consumption, such as occupancy, weather, time of day, and building characteristics. </a:t>
            </a:r>
          </a:p>
          <a:p>
            <a:pPr lvl="0" algn="just"/>
            <a:r>
              <a:rPr lang="en-IN" sz="3200" dirty="0"/>
              <a:t>Detect unusual or excessive energy usage patterns using exploratory data analysis. </a:t>
            </a:r>
          </a:p>
          <a:p>
            <a:pPr lvl="0" algn="just"/>
            <a:r>
              <a:rPr lang="en-IN" sz="3200" dirty="0"/>
              <a:t>Visualize energy consumption trends through charts and dashboards. </a:t>
            </a:r>
          </a:p>
          <a:p>
            <a:pPr lvl="0" algn="just"/>
            <a:r>
              <a:rPr lang="en-IN" sz="3200" dirty="0"/>
              <a:t>Develop insights and recommendations to improve energy efficiency and reduce energy costs. </a:t>
            </a:r>
          </a:p>
          <a:p>
            <a:pPr lvl="0" algn="just"/>
            <a:r>
              <a:rPr lang="en-IN" sz="3200" dirty="0"/>
              <a:t>Demonstrate how data analytics can support sustainable energy management and decision-making.</a:t>
            </a:r>
          </a:p>
          <a:p>
            <a:pPr marL="0" indent="0" fontAlgn="auto">
              <a:buNone/>
            </a:pPr>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val="280380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62E4AC-212E-43EC-956C-B30F3E8CC9D6}"/>
              </a:ext>
            </a:extLst>
          </p:cNvPr>
          <p:cNvSpPr txBox="1"/>
          <p:nvPr/>
        </p:nvSpPr>
        <p:spPr>
          <a:xfrm>
            <a:off x="869084" y="961711"/>
            <a:ext cx="10843539" cy="707886"/>
          </a:xfrm>
          <a:prstGeom prst="rect">
            <a:avLst/>
          </a:prstGeom>
          <a:noFill/>
        </p:spPr>
        <p:txBody>
          <a:bodyPr wrap="square" rtlCol="0">
            <a:spAutoFit/>
          </a:bodyPr>
          <a:lstStyle/>
          <a:p>
            <a:pPr algn="ctr"/>
            <a:r>
              <a:rPr lang="en-US" sz="40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DOMAIN SELECTION </a:t>
            </a:r>
          </a:p>
        </p:txBody>
      </p:sp>
      <p:sp>
        <p:nvSpPr>
          <p:cNvPr id="6" name="Content Placeholder 1">
            <a:extLst>
              <a:ext uri="{FF2B5EF4-FFF2-40B4-BE49-F238E27FC236}">
                <a16:creationId xmlns:a16="http://schemas.microsoft.com/office/drawing/2014/main" id="{C4B12F71-216B-4B4A-9933-2017B3D46F1E}"/>
              </a:ext>
            </a:extLst>
          </p:cNvPr>
          <p:cNvSpPr txBox="1">
            <a:spLocks/>
          </p:cNvSpPr>
          <p:nvPr/>
        </p:nvSpPr>
        <p:spPr>
          <a:xfrm>
            <a:off x="869085" y="1561876"/>
            <a:ext cx="10515600" cy="453141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endParaRPr lang="en-IN" sz="2400" dirty="0">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8D573B9C-6555-00E1-0D68-26F034C53609}"/>
              </a:ext>
            </a:extLst>
          </p:cNvPr>
          <p:cNvSpPr txBox="1"/>
          <p:nvPr/>
        </p:nvSpPr>
        <p:spPr>
          <a:xfrm>
            <a:off x="610722" y="2269762"/>
            <a:ext cx="10773963" cy="3539430"/>
          </a:xfrm>
          <a:prstGeom prst="rect">
            <a:avLst/>
          </a:prstGeom>
          <a:noFill/>
        </p:spPr>
        <p:txBody>
          <a:bodyPr wrap="square">
            <a:spAutoFit/>
          </a:bodyPr>
          <a:lstStyle/>
          <a:p>
            <a:pPr algn="just"/>
            <a:r>
              <a:rPr lang="en-IN" sz="3200" dirty="0"/>
              <a:t>The selected domain for this project is </a:t>
            </a:r>
            <a:r>
              <a:rPr lang="en-IN" sz="3200" b="1" dirty="0"/>
              <a:t>Energy Management and Building Analytics</a:t>
            </a:r>
            <a:r>
              <a:rPr lang="en-IN" sz="3200" dirty="0"/>
              <a:t>. This domain focuses on monitoring, analyzing, and optimizing energy consumption in residential, commercial, and institutional buildings. With the increasing demand for energy and growing environmental concerns, analyzing building energy usage has become essential for improving efficiency and promoting sustainable development.</a:t>
            </a:r>
          </a:p>
        </p:txBody>
      </p:sp>
    </p:spTree>
    <p:extLst>
      <p:ext uri="{BB962C8B-B14F-4D97-AF65-F5344CB8AC3E}">
        <p14:creationId xmlns:p14="http://schemas.microsoft.com/office/powerpoint/2010/main" val="233003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62E4AC-212E-43EC-956C-B30F3E8CC9D6}"/>
              </a:ext>
            </a:extLst>
          </p:cNvPr>
          <p:cNvSpPr txBox="1"/>
          <p:nvPr/>
        </p:nvSpPr>
        <p:spPr>
          <a:xfrm>
            <a:off x="809588" y="908720"/>
            <a:ext cx="10561550" cy="707886"/>
          </a:xfrm>
          <a:prstGeom prst="rect">
            <a:avLst/>
          </a:prstGeom>
          <a:noFill/>
        </p:spPr>
        <p:txBody>
          <a:bodyPr wrap="square" rtlCol="0">
            <a:spAutoFit/>
          </a:bodyPr>
          <a:lstStyle/>
          <a:p>
            <a:pPr algn="ctr"/>
            <a:r>
              <a:rPr lang="en-US" sz="40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IMPORTANCE OF THE PROBLEM </a:t>
            </a:r>
          </a:p>
        </p:txBody>
      </p:sp>
      <p:sp>
        <p:nvSpPr>
          <p:cNvPr id="9" name="TextBox 8">
            <a:extLst>
              <a:ext uri="{FF2B5EF4-FFF2-40B4-BE49-F238E27FC236}">
                <a16:creationId xmlns:a16="http://schemas.microsoft.com/office/drawing/2014/main" id="{05440583-7BF8-97BA-39B1-5B9E62885429}"/>
              </a:ext>
            </a:extLst>
          </p:cNvPr>
          <p:cNvSpPr txBox="1"/>
          <p:nvPr/>
        </p:nvSpPr>
        <p:spPr>
          <a:xfrm>
            <a:off x="1055440" y="1916832"/>
            <a:ext cx="10561550" cy="4678204"/>
          </a:xfrm>
          <a:prstGeom prst="rect">
            <a:avLst/>
          </a:prstGeom>
          <a:noFill/>
        </p:spPr>
        <p:txBody>
          <a:bodyPr wrap="square" rtlCol="0">
            <a:spAutoFit/>
          </a:bodyPr>
          <a:lstStyle/>
          <a:p>
            <a:pPr algn="just"/>
            <a:r>
              <a:rPr lang="en-IN" sz="2800" dirty="0"/>
              <a:t>Buildings consume nearly </a:t>
            </a:r>
            <a:r>
              <a:rPr lang="en-IN" sz="2800" b="1" dirty="0"/>
              <a:t>30–40% of the world's total energy</a:t>
            </a:r>
            <a:r>
              <a:rPr lang="en-IN" sz="2800" dirty="0"/>
              <a:t>, making them one of the largest contributors to energy demand and carbon emissions. Many buildings experience unnecessary energy wastage due to inefficient equipment, poor operational practices, and lack of monitoring. By analyzing energy consumption data, organizations can:</a:t>
            </a:r>
          </a:p>
          <a:p>
            <a:pPr marL="457200" lvl="0" indent="-457200" algn="just">
              <a:buFont typeface="Arial" panose="020B0604020202020204" pitchFamily="34" charset="0"/>
              <a:buChar char="•"/>
            </a:pPr>
            <a:r>
              <a:rPr lang="en-IN" sz="2800" dirty="0"/>
              <a:t>Identify inefficient buildings and equipment. </a:t>
            </a:r>
          </a:p>
          <a:p>
            <a:pPr marL="457200" lvl="0" indent="-457200" algn="just">
              <a:buFont typeface="Arial" panose="020B0604020202020204" pitchFamily="34" charset="0"/>
              <a:buChar char="•"/>
            </a:pPr>
            <a:r>
              <a:rPr lang="en-IN" sz="2800" dirty="0"/>
              <a:t>Detect abnormal or excessive energy usage. </a:t>
            </a:r>
          </a:p>
          <a:p>
            <a:pPr marL="457200" lvl="0" indent="-457200" algn="just">
              <a:buFont typeface="Arial" panose="020B0604020202020204" pitchFamily="34" charset="0"/>
              <a:buChar char="•"/>
            </a:pPr>
            <a:r>
              <a:rPr lang="en-IN" sz="2800" dirty="0"/>
              <a:t>Reduce electricity costs through informed decision-making. </a:t>
            </a:r>
          </a:p>
          <a:p>
            <a:pPr marL="457200" lvl="0" indent="-457200" algn="just">
              <a:buFont typeface="Arial" panose="020B0604020202020204" pitchFamily="34" charset="0"/>
              <a:buChar char="•"/>
            </a:pPr>
            <a:r>
              <a:rPr lang="en-IN" sz="2800" dirty="0"/>
              <a:t>Improve energy efficiency and sustainability. </a:t>
            </a:r>
          </a:p>
          <a:p>
            <a:pPr marL="457200" lvl="0" indent="-457200" algn="just">
              <a:buFont typeface="Arial" panose="020B0604020202020204" pitchFamily="34" charset="0"/>
              <a:buChar char="•"/>
            </a:pPr>
            <a:r>
              <a:rPr lang="en-IN" sz="2800" dirty="0"/>
              <a:t>Support environmental goals by reducing carbon emissions</a:t>
            </a:r>
          </a:p>
          <a:p>
            <a:endParaRPr lang="en-IN" dirty="0"/>
          </a:p>
        </p:txBody>
      </p:sp>
    </p:spTree>
    <p:extLst>
      <p:ext uri="{BB962C8B-B14F-4D97-AF65-F5344CB8AC3E}">
        <p14:creationId xmlns:p14="http://schemas.microsoft.com/office/powerpoint/2010/main" val="1266168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62E4AC-212E-43EC-956C-B30F3E8CC9D6}"/>
              </a:ext>
            </a:extLst>
          </p:cNvPr>
          <p:cNvSpPr txBox="1"/>
          <p:nvPr/>
        </p:nvSpPr>
        <p:spPr>
          <a:xfrm>
            <a:off x="1025498" y="355303"/>
            <a:ext cx="10561550" cy="1077218"/>
          </a:xfrm>
          <a:prstGeom prst="rect">
            <a:avLst/>
          </a:prstGeom>
          <a:noFill/>
        </p:spPr>
        <p:txBody>
          <a:bodyPr wrap="square" rtlCol="0">
            <a:spAutoFit/>
          </a:bodyPr>
          <a:lstStyle/>
          <a:p>
            <a:pPr algn="ctr"/>
            <a:r>
              <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DATASET SELECTION AND</a:t>
            </a:r>
          </a:p>
          <a:p>
            <a:pPr algn="ctr"/>
            <a:r>
              <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 UNDERSTANDING</a:t>
            </a:r>
          </a:p>
        </p:txBody>
      </p:sp>
      <p:sp>
        <p:nvSpPr>
          <p:cNvPr id="5" name="TextBox 4">
            <a:extLst>
              <a:ext uri="{FF2B5EF4-FFF2-40B4-BE49-F238E27FC236}">
                <a16:creationId xmlns:a16="http://schemas.microsoft.com/office/drawing/2014/main" id="{7FCE3D1F-FE03-C000-DBE7-358E0F77A41D}"/>
              </a:ext>
            </a:extLst>
          </p:cNvPr>
          <p:cNvSpPr txBox="1"/>
          <p:nvPr/>
        </p:nvSpPr>
        <p:spPr>
          <a:xfrm>
            <a:off x="604952" y="1555632"/>
            <a:ext cx="10982096" cy="1477328"/>
          </a:xfrm>
          <a:prstGeom prst="rect">
            <a:avLst/>
          </a:prstGeom>
          <a:noFill/>
        </p:spPr>
        <p:txBody>
          <a:bodyPr wrap="square" rtlCol="0">
            <a:spAutoFit/>
          </a:bodyPr>
          <a:lstStyle/>
          <a:p>
            <a:pPr algn="just"/>
            <a:r>
              <a:rPr lang="en-US" dirty="0"/>
              <a:t>The dataset is sourced from Kaggle, hosted as part of a competition organized by ASHRAE — the American Society of Heating, Refrigerating and Air-Conditioning Engineers. ASHRAE was founded in 1894 to advance the science of heating, ventilation, air conditioning, and refrigeration, and the competition challenged data scientists worldwide to develop accurate models of metered building energy usage across electricity, chilled water, hot water, and steam meters. It comes structured across multiple CSV files covering building metadata, weather data, and meter readings.</a:t>
            </a:r>
          </a:p>
        </p:txBody>
      </p:sp>
      <p:pic>
        <p:nvPicPr>
          <p:cNvPr id="3" name="Picture 2">
            <a:extLst>
              <a:ext uri="{FF2B5EF4-FFF2-40B4-BE49-F238E27FC236}">
                <a16:creationId xmlns:a16="http://schemas.microsoft.com/office/drawing/2014/main" id="{5F4513AA-7A2F-3ACC-BB73-F5319B788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1876" y="3150351"/>
            <a:ext cx="8328248" cy="3623641"/>
          </a:xfrm>
          <a:prstGeom prst="rect">
            <a:avLst/>
          </a:prstGeom>
        </p:spPr>
      </p:pic>
    </p:spTree>
    <p:extLst>
      <p:ext uri="{BB962C8B-B14F-4D97-AF65-F5344CB8AC3E}">
        <p14:creationId xmlns:p14="http://schemas.microsoft.com/office/powerpoint/2010/main" val="969609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BBF7-C224-1D94-65D6-D71D273E55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44B98DD-3DBB-B787-302B-FF43DFF5E5CA}"/>
              </a:ext>
            </a:extLst>
          </p:cNvPr>
          <p:cNvSpPr txBox="1"/>
          <p:nvPr/>
        </p:nvSpPr>
        <p:spPr>
          <a:xfrm>
            <a:off x="1025498" y="355303"/>
            <a:ext cx="10561550" cy="1077218"/>
          </a:xfrm>
          <a:prstGeom prst="rect">
            <a:avLst/>
          </a:prstGeom>
          <a:noFill/>
        </p:spPr>
        <p:txBody>
          <a:bodyPr wrap="square" rtlCol="0">
            <a:spAutoFit/>
          </a:bodyPr>
          <a:lstStyle/>
          <a:p>
            <a:pPr algn="ctr"/>
            <a:r>
              <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DATASET SELECTION AND</a:t>
            </a:r>
          </a:p>
          <a:p>
            <a:pPr algn="ctr"/>
            <a:r>
              <a:rPr lang="en-US"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 UNDERSTANDING</a:t>
            </a:r>
          </a:p>
        </p:txBody>
      </p:sp>
      <p:sp>
        <p:nvSpPr>
          <p:cNvPr id="5" name="TextBox 4">
            <a:extLst>
              <a:ext uri="{FF2B5EF4-FFF2-40B4-BE49-F238E27FC236}">
                <a16:creationId xmlns:a16="http://schemas.microsoft.com/office/drawing/2014/main" id="{92711EC5-1B4F-4A38-70EE-6EF19D700A29}"/>
              </a:ext>
            </a:extLst>
          </p:cNvPr>
          <p:cNvSpPr txBox="1"/>
          <p:nvPr/>
        </p:nvSpPr>
        <p:spPr>
          <a:xfrm>
            <a:off x="335360" y="1505000"/>
            <a:ext cx="5419040" cy="5355312"/>
          </a:xfrm>
          <a:prstGeom prst="rect">
            <a:avLst/>
          </a:prstGeom>
          <a:noFill/>
        </p:spPr>
        <p:txBody>
          <a:bodyPr wrap="square" rtlCol="0">
            <a:spAutoFit/>
          </a:bodyPr>
          <a:lstStyle/>
          <a:p>
            <a:pPr algn="just"/>
            <a:r>
              <a:rPr lang="en-US" dirty="0"/>
              <a:t>The dataset contains several key attributes that together paint a full picture of a building's energy </a:t>
            </a:r>
            <a:r>
              <a:rPr lang="en-US" dirty="0" err="1"/>
              <a:t>behaviour</a:t>
            </a:r>
            <a:r>
              <a:rPr lang="en-US" dirty="0"/>
              <a:t>,  building_id uniquely identifies each building; </a:t>
            </a:r>
            <a:r>
              <a:rPr lang="en-US" dirty="0" err="1"/>
              <a:t>square_feet</a:t>
            </a:r>
            <a:r>
              <a:rPr lang="en-US" dirty="0"/>
              <a:t> captures the floor area; </a:t>
            </a:r>
            <a:r>
              <a:rPr lang="en-US" dirty="0" err="1"/>
              <a:t>year_built</a:t>
            </a:r>
            <a:r>
              <a:rPr lang="en-US" dirty="0"/>
              <a:t> and </a:t>
            </a:r>
            <a:r>
              <a:rPr lang="en-US" dirty="0" err="1"/>
              <a:t>floor_count</a:t>
            </a:r>
            <a:r>
              <a:rPr lang="en-US" dirty="0"/>
              <a:t> describe the building's physical profile; </a:t>
            </a:r>
            <a:r>
              <a:rPr lang="en-US" dirty="0" err="1"/>
              <a:t>air_temperature</a:t>
            </a:r>
            <a:r>
              <a:rPr lang="en-US" dirty="0"/>
              <a:t> and </a:t>
            </a:r>
            <a:r>
              <a:rPr lang="en-US" dirty="0" err="1"/>
              <a:t>dew_temperature</a:t>
            </a:r>
            <a:r>
              <a:rPr lang="en-US" dirty="0"/>
              <a:t> capture outdoor climate conditions; cloud_coverage, </a:t>
            </a:r>
            <a:r>
              <a:rPr lang="en-US" dirty="0" err="1"/>
              <a:t>wind_speed</a:t>
            </a:r>
            <a:r>
              <a:rPr lang="en-US" dirty="0"/>
              <a:t>, </a:t>
            </a:r>
            <a:r>
              <a:rPr lang="en-US" dirty="0" err="1"/>
              <a:t>wind_direction</a:t>
            </a:r>
            <a:r>
              <a:rPr lang="en-US" dirty="0"/>
              <a:t>, </a:t>
            </a:r>
            <a:r>
              <a:rPr lang="en-US" dirty="0" err="1"/>
              <a:t>sealevel_pressure</a:t>
            </a:r>
            <a:r>
              <a:rPr lang="en-US" dirty="0"/>
              <a:t> , and precip_depth_1_hr complete the weather picture; and meter identifies the type of energy being measured — electricity, chilled water, steam, or hot water. The </a:t>
            </a:r>
            <a:r>
              <a:rPr lang="en-US" dirty="0" err="1"/>
              <a:t>primary_use</a:t>
            </a:r>
            <a:r>
              <a:rPr lang="en-US" dirty="0"/>
              <a:t> attribute describes what the building is used for — office, education, healthcare, and so on — which is critical for comparing consumption across building types. The target variable is </a:t>
            </a:r>
            <a:r>
              <a:rPr lang="en-US" dirty="0" err="1"/>
              <a:t>meter_reading</a:t>
            </a:r>
            <a:r>
              <a:rPr lang="en-US" dirty="0"/>
              <a:t>, which represents the actual energy consumed in kWh, and this is what our predictive model will learn to estimate based on all the other features.</a:t>
            </a:r>
          </a:p>
          <a:p>
            <a:endParaRPr lang="en-IN" dirty="0"/>
          </a:p>
        </p:txBody>
      </p:sp>
      <p:pic>
        <p:nvPicPr>
          <p:cNvPr id="3" name="Picture 2">
            <a:extLst>
              <a:ext uri="{FF2B5EF4-FFF2-40B4-BE49-F238E27FC236}">
                <a16:creationId xmlns:a16="http://schemas.microsoft.com/office/drawing/2014/main" id="{3C3BD0CA-668F-1F53-D54A-221AE773B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1985" y="1655524"/>
            <a:ext cx="1800200" cy="1741284"/>
          </a:xfrm>
          <a:prstGeom prst="rect">
            <a:avLst/>
          </a:prstGeom>
        </p:spPr>
      </p:pic>
      <p:pic>
        <p:nvPicPr>
          <p:cNvPr id="7" name="Picture 6">
            <a:extLst>
              <a:ext uri="{FF2B5EF4-FFF2-40B4-BE49-F238E27FC236}">
                <a16:creationId xmlns:a16="http://schemas.microsoft.com/office/drawing/2014/main" id="{EC70A956-D7D4-2391-E754-AC878EF550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185" y="1655524"/>
            <a:ext cx="4258434" cy="1891537"/>
          </a:xfrm>
          <a:prstGeom prst="rect">
            <a:avLst/>
          </a:prstGeom>
        </p:spPr>
      </p:pic>
      <p:pic>
        <p:nvPicPr>
          <p:cNvPr id="9" name="Picture 8">
            <a:extLst>
              <a:ext uri="{FF2B5EF4-FFF2-40B4-BE49-F238E27FC236}">
                <a16:creationId xmlns:a16="http://schemas.microsoft.com/office/drawing/2014/main" id="{AFED696B-06E5-4E7A-FDD5-2B982AA11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770064"/>
            <a:ext cx="5397785" cy="2476228"/>
          </a:xfrm>
          <a:prstGeom prst="rect">
            <a:avLst/>
          </a:prstGeom>
        </p:spPr>
      </p:pic>
    </p:spTree>
    <p:extLst>
      <p:ext uri="{BB962C8B-B14F-4D97-AF65-F5344CB8AC3E}">
        <p14:creationId xmlns:p14="http://schemas.microsoft.com/office/powerpoint/2010/main" val="1551062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1C999-0B08-E869-1775-C1B8DBDFBFB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CC1A73-C8D1-720C-DA6D-83BF4E627FC6}"/>
              </a:ext>
            </a:extLst>
          </p:cNvPr>
          <p:cNvSpPr txBox="1"/>
          <p:nvPr/>
        </p:nvSpPr>
        <p:spPr>
          <a:xfrm>
            <a:off x="1199456" y="504254"/>
            <a:ext cx="10153128" cy="1077218"/>
          </a:xfrm>
          <a:prstGeom prst="rect">
            <a:avLst/>
          </a:prstGeom>
          <a:noFill/>
        </p:spPr>
        <p:txBody>
          <a:bodyPr wrap="square" rtlCol="0">
            <a:spAutoFit/>
          </a:bodyPr>
          <a:lstStyle/>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COLLECTION AND </a:t>
            </a:r>
          </a:p>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PROCESSING</a:t>
            </a:r>
          </a:p>
        </p:txBody>
      </p:sp>
      <p:sp>
        <p:nvSpPr>
          <p:cNvPr id="5" name="TextBox 4">
            <a:extLst>
              <a:ext uri="{FF2B5EF4-FFF2-40B4-BE49-F238E27FC236}">
                <a16:creationId xmlns:a16="http://schemas.microsoft.com/office/drawing/2014/main" id="{0DEBCEC4-7319-EA14-A623-46C2DA843DC9}"/>
              </a:ext>
            </a:extLst>
          </p:cNvPr>
          <p:cNvSpPr txBox="1"/>
          <p:nvPr/>
        </p:nvSpPr>
        <p:spPr>
          <a:xfrm>
            <a:off x="1191612" y="2060848"/>
            <a:ext cx="2592288" cy="3970318"/>
          </a:xfrm>
          <a:prstGeom prst="rect">
            <a:avLst/>
          </a:prstGeom>
          <a:noFill/>
        </p:spPr>
        <p:txBody>
          <a:bodyPr wrap="square" rtlCol="0">
            <a:spAutoFit/>
          </a:bodyPr>
          <a:lstStyle/>
          <a:p>
            <a:r>
              <a:rPr lang="en-IN" b="1" dirty="0"/>
              <a:t>Dataset Import</a:t>
            </a:r>
            <a:br>
              <a:rPr lang="en-IN" dirty="0"/>
            </a:br>
            <a:r>
              <a:rPr lang="en-IN" dirty="0"/>
              <a:t>The ASHRAE dataset was downloaded from Kaggle and imported into a Jupyter Notebook using Python's pandas library (</a:t>
            </a:r>
            <a:r>
              <a:rPr lang="en-IN" dirty="0" err="1"/>
              <a:t>pd.read_csv</a:t>
            </a:r>
            <a:r>
              <a:rPr lang="en-IN" dirty="0"/>
              <a:t>()). The files (train.csv, building_metadata.csv, and weather_train.csv) were merged using </a:t>
            </a:r>
            <a:r>
              <a:rPr lang="en-IN" dirty="0" err="1"/>
              <a:t>pd.merge</a:t>
            </a:r>
            <a:r>
              <a:rPr lang="en-IN" dirty="0"/>
              <a:t>() to create a unified dataset for analysis.</a:t>
            </a:r>
          </a:p>
        </p:txBody>
      </p:sp>
      <p:pic>
        <p:nvPicPr>
          <p:cNvPr id="3" name="Picture 2">
            <a:extLst>
              <a:ext uri="{FF2B5EF4-FFF2-40B4-BE49-F238E27FC236}">
                <a16:creationId xmlns:a16="http://schemas.microsoft.com/office/drawing/2014/main" id="{DC258007-DA6E-102E-F099-241DA162CA2D}"/>
              </a:ext>
            </a:extLst>
          </p:cNvPr>
          <p:cNvPicPr>
            <a:picLocks noChangeAspect="1"/>
          </p:cNvPicPr>
          <p:nvPr/>
        </p:nvPicPr>
        <p:blipFill>
          <a:blip r:embed="rId2">
            <a:extLst>
              <a:ext uri="{28A0092B-C50C-407E-A947-70E740481C1C}">
                <a14:useLocalDpi xmlns:a14="http://schemas.microsoft.com/office/drawing/2010/main" val="0"/>
              </a:ext>
            </a:extLst>
          </a:blip>
          <a:srcRect r="13256"/>
          <a:stretch>
            <a:fillRect/>
          </a:stretch>
        </p:blipFill>
        <p:spPr>
          <a:xfrm>
            <a:off x="4583832" y="1975038"/>
            <a:ext cx="7128792" cy="4378708"/>
          </a:xfrm>
          <a:prstGeom prst="rect">
            <a:avLst/>
          </a:prstGeom>
        </p:spPr>
      </p:pic>
    </p:spTree>
    <p:extLst>
      <p:ext uri="{BB962C8B-B14F-4D97-AF65-F5344CB8AC3E}">
        <p14:creationId xmlns:p14="http://schemas.microsoft.com/office/powerpoint/2010/main" val="2305683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0DBD9-AC39-2340-8FA1-C95125ABE9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14BD3B0-17ED-C1B2-A2F6-7C9011EE9760}"/>
              </a:ext>
            </a:extLst>
          </p:cNvPr>
          <p:cNvSpPr txBox="1"/>
          <p:nvPr/>
        </p:nvSpPr>
        <p:spPr>
          <a:xfrm>
            <a:off x="1199456" y="504254"/>
            <a:ext cx="10153128" cy="1077218"/>
          </a:xfrm>
          <a:prstGeom prst="rect">
            <a:avLst/>
          </a:prstGeom>
          <a:noFill/>
        </p:spPr>
        <p:txBody>
          <a:bodyPr wrap="square" rtlCol="0">
            <a:spAutoFit/>
          </a:bodyPr>
          <a:lstStyle/>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COLLECTION AND </a:t>
            </a:r>
          </a:p>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PROCESSING</a:t>
            </a:r>
          </a:p>
        </p:txBody>
      </p:sp>
      <p:pic>
        <p:nvPicPr>
          <p:cNvPr id="7" name="Picture 6">
            <a:extLst>
              <a:ext uri="{FF2B5EF4-FFF2-40B4-BE49-F238E27FC236}">
                <a16:creationId xmlns:a16="http://schemas.microsoft.com/office/drawing/2014/main" id="{C160FCA0-531F-2319-950E-C72B58405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808" y="1844824"/>
            <a:ext cx="10032776" cy="4778844"/>
          </a:xfrm>
          <a:prstGeom prst="rect">
            <a:avLst/>
          </a:prstGeom>
        </p:spPr>
      </p:pic>
    </p:spTree>
    <p:extLst>
      <p:ext uri="{BB962C8B-B14F-4D97-AF65-F5344CB8AC3E}">
        <p14:creationId xmlns:p14="http://schemas.microsoft.com/office/powerpoint/2010/main" val="3107207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62E4AC-212E-43EC-956C-B30F3E8CC9D6}"/>
              </a:ext>
            </a:extLst>
          </p:cNvPr>
          <p:cNvSpPr txBox="1"/>
          <p:nvPr/>
        </p:nvSpPr>
        <p:spPr>
          <a:xfrm>
            <a:off x="1199456" y="504254"/>
            <a:ext cx="10153128" cy="1077218"/>
          </a:xfrm>
          <a:prstGeom prst="rect">
            <a:avLst/>
          </a:prstGeom>
          <a:noFill/>
        </p:spPr>
        <p:txBody>
          <a:bodyPr wrap="square" rtlCol="0">
            <a:spAutoFit/>
          </a:bodyPr>
          <a:lstStyle/>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COLLECTION AND </a:t>
            </a:r>
          </a:p>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PROCESSING</a:t>
            </a:r>
          </a:p>
        </p:txBody>
      </p:sp>
      <p:sp>
        <p:nvSpPr>
          <p:cNvPr id="5" name="TextBox 4">
            <a:extLst>
              <a:ext uri="{FF2B5EF4-FFF2-40B4-BE49-F238E27FC236}">
                <a16:creationId xmlns:a16="http://schemas.microsoft.com/office/drawing/2014/main" id="{1A3D2A67-5C04-F19E-BFB0-2BBC6E3C79EE}"/>
              </a:ext>
            </a:extLst>
          </p:cNvPr>
          <p:cNvSpPr txBox="1"/>
          <p:nvPr/>
        </p:nvSpPr>
        <p:spPr>
          <a:xfrm>
            <a:off x="479376" y="1669554"/>
            <a:ext cx="11449272" cy="1200329"/>
          </a:xfrm>
          <a:prstGeom prst="rect">
            <a:avLst/>
          </a:prstGeom>
          <a:noFill/>
        </p:spPr>
        <p:txBody>
          <a:bodyPr wrap="square" rtlCol="0">
            <a:spAutoFit/>
          </a:bodyPr>
          <a:lstStyle/>
          <a:p>
            <a:r>
              <a:rPr lang="en-IN" b="1" dirty="0"/>
              <a:t>Data Cleaning</a:t>
            </a:r>
            <a:br>
              <a:rPr lang="en-IN" dirty="0"/>
            </a:br>
            <a:r>
              <a:rPr lang="en-IN" dirty="0"/>
              <a:t>The dataset was inspected using df.info(), </a:t>
            </a:r>
            <a:r>
              <a:rPr lang="en-IN" dirty="0" err="1"/>
              <a:t>df.describe</a:t>
            </a:r>
            <a:r>
              <a:rPr lang="en-IN" dirty="0"/>
              <a:t>(), and </a:t>
            </a:r>
            <a:r>
              <a:rPr lang="en-IN" dirty="0" err="1"/>
              <a:t>df.head</a:t>
            </a:r>
            <a:r>
              <a:rPr lang="en-IN" dirty="0"/>
              <a:t>(). Columns with excessive missing values (e.g., </a:t>
            </a:r>
            <a:r>
              <a:rPr lang="en-IN" dirty="0" err="1"/>
              <a:t>floor_count</a:t>
            </a:r>
            <a:r>
              <a:rPr lang="en-IN" dirty="0"/>
              <a:t>, </a:t>
            </a:r>
            <a:r>
              <a:rPr lang="en-IN" dirty="0" err="1"/>
              <a:t>year_built</a:t>
            </a:r>
            <a:r>
              <a:rPr lang="en-IN" dirty="0"/>
              <a:t>) were dropped or imputed. Invalid records, such as negative </a:t>
            </a:r>
            <a:r>
              <a:rPr lang="en-IN" dirty="0" err="1"/>
              <a:t>meter_reading</a:t>
            </a:r>
            <a:r>
              <a:rPr lang="en-IN" dirty="0"/>
              <a:t> values, and duplicate rows were removed.</a:t>
            </a:r>
          </a:p>
        </p:txBody>
      </p:sp>
      <p:pic>
        <p:nvPicPr>
          <p:cNvPr id="3" name="Picture 2">
            <a:extLst>
              <a:ext uri="{FF2B5EF4-FFF2-40B4-BE49-F238E27FC236}">
                <a16:creationId xmlns:a16="http://schemas.microsoft.com/office/drawing/2014/main" id="{25D9A582-7444-6A7E-F30B-A2675A8D26D9}"/>
              </a:ext>
            </a:extLst>
          </p:cNvPr>
          <p:cNvPicPr>
            <a:picLocks noChangeAspect="1"/>
          </p:cNvPicPr>
          <p:nvPr/>
        </p:nvPicPr>
        <p:blipFill>
          <a:blip r:embed="rId2">
            <a:extLst>
              <a:ext uri="{28A0092B-C50C-407E-A947-70E740481C1C}">
                <a14:useLocalDpi xmlns:a14="http://schemas.microsoft.com/office/drawing/2010/main" val="0"/>
              </a:ext>
            </a:extLst>
          </a:blip>
          <a:srcRect r="68900"/>
          <a:stretch>
            <a:fillRect/>
          </a:stretch>
        </p:blipFill>
        <p:spPr>
          <a:xfrm>
            <a:off x="479376" y="2869883"/>
            <a:ext cx="2952328" cy="3913199"/>
          </a:xfrm>
          <a:prstGeom prst="rect">
            <a:avLst/>
          </a:prstGeom>
        </p:spPr>
      </p:pic>
      <p:pic>
        <p:nvPicPr>
          <p:cNvPr id="7" name="Picture 6">
            <a:extLst>
              <a:ext uri="{FF2B5EF4-FFF2-40B4-BE49-F238E27FC236}">
                <a16:creationId xmlns:a16="http://schemas.microsoft.com/office/drawing/2014/main" id="{73881C6C-EEE5-10BB-78A8-18C29E4A520C}"/>
              </a:ext>
            </a:extLst>
          </p:cNvPr>
          <p:cNvPicPr>
            <a:picLocks noChangeAspect="1"/>
          </p:cNvPicPr>
          <p:nvPr/>
        </p:nvPicPr>
        <p:blipFill>
          <a:blip r:embed="rId3">
            <a:extLst>
              <a:ext uri="{28A0092B-C50C-407E-A947-70E740481C1C}">
                <a14:useLocalDpi xmlns:a14="http://schemas.microsoft.com/office/drawing/2010/main" val="0"/>
              </a:ext>
            </a:extLst>
          </a:blip>
          <a:srcRect r="45275"/>
          <a:stretch>
            <a:fillRect/>
          </a:stretch>
        </p:blipFill>
        <p:spPr>
          <a:xfrm>
            <a:off x="3503712" y="2836730"/>
            <a:ext cx="4450773" cy="3913199"/>
          </a:xfrm>
          <a:prstGeom prst="rect">
            <a:avLst/>
          </a:prstGeom>
        </p:spPr>
      </p:pic>
      <p:pic>
        <p:nvPicPr>
          <p:cNvPr id="9" name="Picture 8">
            <a:extLst>
              <a:ext uri="{FF2B5EF4-FFF2-40B4-BE49-F238E27FC236}">
                <a16:creationId xmlns:a16="http://schemas.microsoft.com/office/drawing/2014/main" id="{6F68061D-C4B0-F214-C528-4954FB12A6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9833" y="3800909"/>
            <a:ext cx="4182775" cy="1984839"/>
          </a:xfrm>
          <a:prstGeom prst="rect">
            <a:avLst/>
          </a:prstGeom>
        </p:spPr>
      </p:pic>
    </p:spTree>
    <p:extLst>
      <p:ext uri="{BB962C8B-B14F-4D97-AF65-F5344CB8AC3E}">
        <p14:creationId xmlns:p14="http://schemas.microsoft.com/office/powerpoint/2010/main" val="4210108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CFC45-E283-977D-F9F4-52D662CEEE5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D3B7ED8-30B4-F8F3-A610-7661DD8D0ECB}"/>
              </a:ext>
            </a:extLst>
          </p:cNvPr>
          <p:cNvSpPr txBox="1"/>
          <p:nvPr/>
        </p:nvSpPr>
        <p:spPr>
          <a:xfrm>
            <a:off x="1199456" y="504254"/>
            <a:ext cx="10153128" cy="1077218"/>
          </a:xfrm>
          <a:prstGeom prst="rect">
            <a:avLst/>
          </a:prstGeom>
          <a:noFill/>
        </p:spPr>
        <p:txBody>
          <a:bodyPr wrap="square" rtlCol="0">
            <a:spAutoFit/>
          </a:bodyPr>
          <a:lstStyle/>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DATA COLLECTION AND </a:t>
            </a:r>
          </a:p>
          <a:p>
            <a:pPr algn="ctr"/>
            <a:r>
              <a:rPr lang="en-IN" sz="3200" b="1"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PROCESSING</a:t>
            </a:r>
          </a:p>
        </p:txBody>
      </p:sp>
      <p:sp>
        <p:nvSpPr>
          <p:cNvPr id="5" name="TextBox 4">
            <a:extLst>
              <a:ext uri="{FF2B5EF4-FFF2-40B4-BE49-F238E27FC236}">
                <a16:creationId xmlns:a16="http://schemas.microsoft.com/office/drawing/2014/main" id="{3AB1DA72-960C-A29A-D6CA-F40106A859DD}"/>
              </a:ext>
            </a:extLst>
          </p:cNvPr>
          <p:cNvSpPr txBox="1"/>
          <p:nvPr/>
        </p:nvSpPr>
        <p:spPr>
          <a:xfrm>
            <a:off x="911424" y="2267805"/>
            <a:ext cx="4968552" cy="3416320"/>
          </a:xfrm>
          <a:prstGeom prst="rect">
            <a:avLst/>
          </a:prstGeom>
          <a:noFill/>
        </p:spPr>
        <p:txBody>
          <a:bodyPr wrap="square" rtlCol="0">
            <a:spAutoFit/>
          </a:bodyPr>
          <a:lstStyle/>
          <a:p>
            <a:r>
              <a:rPr lang="en-IN" b="1" dirty="0"/>
              <a:t>Handling Missing Values and Outliers</a:t>
            </a:r>
            <a:br>
              <a:rPr lang="en-IN" dirty="0"/>
            </a:br>
            <a:r>
              <a:rPr lang="en-IN" dirty="0"/>
              <a:t>Missing numerical values were filled with the mean, while categorical values were filled with the mode. Duplicate records were removed using </a:t>
            </a:r>
            <a:r>
              <a:rPr lang="en-IN" dirty="0" err="1"/>
              <a:t>drop_duplicates</a:t>
            </a:r>
            <a:r>
              <a:rPr lang="en-IN" dirty="0"/>
              <a:t>(). Outliers in </a:t>
            </a:r>
            <a:r>
              <a:rPr lang="en-IN" dirty="0" err="1"/>
              <a:t>meter_reading</a:t>
            </a:r>
            <a:r>
              <a:rPr lang="en-IN" dirty="0"/>
              <a:t> were detected and removed.</a:t>
            </a:r>
          </a:p>
          <a:p>
            <a:endParaRPr lang="en-IN" dirty="0"/>
          </a:p>
          <a:p>
            <a:endParaRPr lang="en-IN" dirty="0"/>
          </a:p>
          <a:p>
            <a:r>
              <a:rPr lang="en-IN" b="1" dirty="0"/>
              <a:t>Data Transformation and Preprocessing</a:t>
            </a:r>
            <a:br>
              <a:rPr lang="en-IN" dirty="0"/>
            </a:br>
            <a:r>
              <a:rPr lang="en-IN" dirty="0"/>
              <a:t>The timestamp column was converted to datetime format, and new features such as </a:t>
            </a:r>
            <a:r>
              <a:rPr lang="en-IN" b="1" dirty="0"/>
              <a:t>hour, day, month, and day of the week</a:t>
            </a:r>
            <a:r>
              <a:rPr lang="en-IN" dirty="0"/>
              <a:t> were extracted. </a:t>
            </a:r>
          </a:p>
        </p:txBody>
      </p:sp>
      <p:pic>
        <p:nvPicPr>
          <p:cNvPr id="3" name="Picture 2">
            <a:extLst>
              <a:ext uri="{FF2B5EF4-FFF2-40B4-BE49-F238E27FC236}">
                <a16:creationId xmlns:a16="http://schemas.microsoft.com/office/drawing/2014/main" id="{E156C1BC-822E-FBDA-82C1-137B2E7F8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27011"/>
            <a:ext cx="5088183" cy="4097909"/>
          </a:xfrm>
          <a:prstGeom prst="rect">
            <a:avLst/>
          </a:prstGeom>
        </p:spPr>
      </p:pic>
    </p:spTree>
    <p:extLst>
      <p:ext uri="{BB962C8B-B14F-4D97-AF65-F5344CB8AC3E}">
        <p14:creationId xmlns:p14="http://schemas.microsoft.com/office/powerpoint/2010/main" val="1252088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B092A7-C8FE-DDFF-6681-101FCF685C26}"/>
              </a:ext>
            </a:extLst>
          </p:cNvPr>
          <p:cNvSpPr txBox="1"/>
          <p:nvPr/>
        </p:nvSpPr>
        <p:spPr>
          <a:xfrm>
            <a:off x="2855640" y="548680"/>
            <a:ext cx="6054800" cy="769441"/>
          </a:xfrm>
          <a:prstGeom prst="rect">
            <a:avLst/>
          </a:prstGeom>
          <a:noFill/>
        </p:spPr>
        <p:txBody>
          <a:bodyPr wrap="square" rtlCol="0">
            <a:spAutoFit/>
          </a:bodyPr>
          <a:lstStyle/>
          <a:p>
            <a:pPr algn="ctr"/>
            <a:r>
              <a:rPr lang="en-IN" sz="4400" dirty="0">
                <a:solidFill>
                  <a:schemeClr val="accent2">
                    <a:lumMod val="75000"/>
                  </a:schemeClr>
                </a:solidFill>
                <a:latin typeface="ADLaM Display" panose="02010000000000000000" pitchFamily="2" charset="0"/>
                <a:ea typeface="ADLaM Display" panose="02010000000000000000" pitchFamily="2" charset="0"/>
                <a:cs typeface="ADLaM Display" panose="02010000000000000000" pitchFamily="2" charset="0"/>
              </a:rPr>
              <a:t>CONCLUSION</a:t>
            </a:r>
          </a:p>
        </p:txBody>
      </p:sp>
      <p:sp>
        <p:nvSpPr>
          <p:cNvPr id="6" name="TextBox 5">
            <a:extLst>
              <a:ext uri="{FF2B5EF4-FFF2-40B4-BE49-F238E27FC236}">
                <a16:creationId xmlns:a16="http://schemas.microsoft.com/office/drawing/2014/main" id="{327050FF-8130-C4A5-5CC4-84CE300DB268}"/>
              </a:ext>
            </a:extLst>
          </p:cNvPr>
          <p:cNvSpPr txBox="1"/>
          <p:nvPr/>
        </p:nvSpPr>
        <p:spPr>
          <a:xfrm>
            <a:off x="1415480" y="1916832"/>
            <a:ext cx="9217024" cy="3693319"/>
          </a:xfrm>
          <a:prstGeom prst="rect">
            <a:avLst/>
          </a:prstGeom>
          <a:noFill/>
        </p:spPr>
        <p:txBody>
          <a:bodyPr wrap="square" rtlCol="0">
            <a:spAutoFit/>
          </a:bodyPr>
          <a:lstStyle/>
          <a:p>
            <a:pPr algn="just"/>
            <a:r>
              <a:rPr lang="en-IN" dirty="0"/>
              <a:t>This project </a:t>
            </a:r>
            <a:r>
              <a:rPr lang="en-IN" dirty="0" err="1"/>
              <a:t>analyzed</a:t>
            </a:r>
            <a:r>
              <a:rPr lang="en-IN" dirty="0"/>
              <a:t> energy consumption across buildings to identify usage patterns and the factors influencing energy demand. Through data cleaning, preprocessing, exploratory data analysis, and visualization, valuable insights were obtained regarding how building characteristics, occupancy, weather conditions, and time-based factors affect energy consumption.</a:t>
            </a:r>
          </a:p>
          <a:p>
            <a:pPr algn="just"/>
            <a:r>
              <a:rPr lang="en-IN" dirty="0"/>
              <a:t>The analysis highlighted opportunities to detect inefficient energy usage, compare building performance, and identify potential energy-saving measures. These insights can help building managers and organizations make informed decisions to optimize energy consumption, reduce operational costs, and support sustainable energy management.</a:t>
            </a:r>
          </a:p>
          <a:p>
            <a:pPr algn="just"/>
            <a:r>
              <a:rPr lang="en-IN" dirty="0"/>
              <a:t>Overall, the project demonstrates how data analytics can transform raw energy data into actionable insights, contributing to improved efficiency, cost savings, and environmentally responsible building operations.</a:t>
            </a:r>
          </a:p>
          <a:p>
            <a:pPr algn="just"/>
            <a:endParaRPr lang="en-IN" dirty="0"/>
          </a:p>
        </p:txBody>
      </p:sp>
    </p:spTree>
    <p:extLst>
      <p:ext uri="{BB962C8B-B14F-4D97-AF65-F5344CB8AC3E}">
        <p14:creationId xmlns:p14="http://schemas.microsoft.com/office/powerpoint/2010/main" val="41280088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7978</TotalTime>
  <Words>1000</Words>
  <Application>Microsoft Office PowerPoint</Application>
  <PresentationFormat>Widescreen</PresentationFormat>
  <Paragraphs>56</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ADLaM Display</vt:lpstr>
      <vt:lpstr>Arial</vt:lpstr>
      <vt:lpstr>Calibri</vt:lpstr>
      <vt:lpstr>Calibri Light</vt:lpstr>
      <vt:lpstr>Times New Roman</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Vamsi Kalyan</cp:lastModifiedBy>
  <cp:revision>842</cp:revision>
  <cp:lastPrinted>2023-06-09T04:58:36Z</cp:lastPrinted>
  <dcterms:created xsi:type="dcterms:W3CDTF">2019-12-14T03:50:52Z</dcterms:created>
  <dcterms:modified xsi:type="dcterms:W3CDTF">2026-08-13T09:50:06Z</dcterms:modified>
</cp:coreProperties>
</file>