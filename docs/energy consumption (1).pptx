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72" r:id="rId1"/>
  </p:sldMasterIdLst>
  <p:notesMasterIdLst>
    <p:notesMasterId r:id="rId22"/>
  </p:notesMasterIdLst>
  <p:handoutMasterIdLst>
    <p:handoutMasterId r:id="rId23"/>
  </p:handoutMasterIdLst>
  <p:sldIdLst>
    <p:sldId id="256" r:id="rId2"/>
    <p:sldId id="430" r:id="rId3"/>
    <p:sldId id="431" r:id="rId4"/>
    <p:sldId id="432" r:id="rId5"/>
    <p:sldId id="578" r:id="rId6"/>
    <p:sldId id="591" r:id="rId7"/>
    <p:sldId id="572" r:id="rId8"/>
    <p:sldId id="580" r:id="rId9"/>
    <p:sldId id="582" r:id="rId10"/>
    <p:sldId id="573" r:id="rId11"/>
    <p:sldId id="584" r:id="rId12"/>
    <p:sldId id="595" r:id="rId13"/>
    <p:sldId id="586" r:id="rId14"/>
    <p:sldId id="589" r:id="rId15"/>
    <p:sldId id="588" r:id="rId16"/>
    <p:sldId id="593" r:id="rId17"/>
    <p:sldId id="592" r:id="rId18"/>
    <p:sldId id="587" r:id="rId19"/>
    <p:sldId id="594" r:id="rId20"/>
    <p:sldId id="579"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600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2A35AF4-8CF5-4528-9467-4493378FB1C1}" v="53" dt="2026-09-30T15:44:25.66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5734" autoAdjust="0"/>
    <p:restoredTop sz="94637" autoAdjust="0"/>
  </p:normalViewPr>
  <p:slideViewPr>
    <p:cSldViewPr>
      <p:cViewPr varScale="1">
        <p:scale>
          <a:sx n="108" d="100"/>
          <a:sy n="108" d="100"/>
        </p:scale>
        <p:origin x="1752" y="192"/>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56" d="100"/>
          <a:sy n="56" d="100"/>
        </p:scale>
        <p:origin x="-2886"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3F2DB80D-D8DC-40C9-8603-2D92EB853E85}" type="datetimeFigureOut">
              <a:rPr lang="en-US" smtClean="0"/>
              <a:pPr/>
              <a:t>10/2/26</a:t>
            </a:fld>
            <a:endParaRPr lang="en-US" dirty="0"/>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EB72EF51-F63D-488E-9B3C-4A470AE4E6F5}" type="slidenum">
              <a:rPr lang="en-US" smtClean="0"/>
              <a:pPr/>
              <a:t>‹#›</a:t>
            </a:fld>
            <a:endParaRPr lang="en-US" dirty="0"/>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C7EF2DC9-9E6B-4115-80F7-AF3C0B919820}" type="datetimeFigureOut">
              <a:rPr lang="en-US" smtClean="0"/>
              <a:pPr/>
              <a:t>10/2/26</a:t>
            </a:fld>
            <a:endParaRPr lang="en-US"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4BB36BD8-3BE0-4B04-B520-77C1F1F1FB7F}" type="slidenum">
              <a:rPr lang="en-US" smtClean="0"/>
              <a:pPr/>
              <a:t>‹#›</a:t>
            </a:fld>
            <a:endParaRPr lang="en-US" dirty="0"/>
          </a:p>
        </p:txBody>
      </p:sp>
    </p:spTree>
    <p:extLst>
      <p:ext uri="{BB962C8B-B14F-4D97-AF65-F5344CB8AC3E}">
        <p14:creationId xmlns:p14="http://schemas.microsoft.com/office/powerpoint/2010/main" val="2025634939"/>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IN" dirty="0"/>
          </a:p>
        </p:txBody>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BB36BD8-3BE0-4B04-B520-77C1F1F1FB7F}" type="slidenum">
              <a:rPr lang="en-US" smtClean="0"/>
              <a:pPr/>
              <a:t>1</a:t>
            </a:fld>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854199"/>
            <a:ext cx="9144000" cy="1655763"/>
          </a:xfrm>
        </p:spPr>
        <p:txBody>
          <a:bodyPr anchor="b"/>
          <a:lstStyle>
            <a:lvl1pPr algn="ctr">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4" name="Picture 3">
            <a:extLst>
              <a:ext uri="{FF2B5EF4-FFF2-40B4-BE49-F238E27FC236}">
                <a16:creationId xmlns:a16="http://schemas.microsoft.com/office/drawing/2014/main" id="{1125AD38-0796-B4A0-F437-8C37B4D1B9B2}"/>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2567608" y="592088"/>
            <a:ext cx="7609140" cy="1008112"/>
          </a:xfrm>
          <a:prstGeom prst="rect">
            <a:avLst/>
          </a:prstGeom>
        </p:spPr>
      </p:pic>
    </p:spTree>
    <p:extLst>
      <p:ext uri="{BB962C8B-B14F-4D97-AF65-F5344CB8AC3E}">
        <p14:creationId xmlns:p14="http://schemas.microsoft.com/office/powerpoint/2010/main" val="4114810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869085" y="1561876"/>
            <a:ext cx="10515600" cy="4531419"/>
          </a:xfrm>
        </p:spPr>
        <p:txBody>
          <a:bodyPr/>
          <a:lstStyle>
            <a:lvl2pPr marL="457200" indent="0">
              <a:buNone/>
              <a:defRPr/>
            </a:lvl2pPr>
            <a:lvl3pPr marL="914400" indent="0">
              <a:buNone/>
              <a:defRPr/>
            </a:lvl3pPr>
            <a:lvl4pPr marL="1371600" indent="0">
              <a:buNone/>
              <a:defRPr/>
            </a:lvl4pPr>
            <a:lvl5pPr marL="1828800" indent="0">
              <a:buNone/>
              <a:defRPr/>
            </a:lvl5pPr>
          </a:lstStyle>
          <a:p>
            <a:pPr lvl="0"/>
            <a:r>
              <a:rPr lang="en-US" dirty="0"/>
              <a:t>Click to edit Master text styles</a:t>
            </a:r>
          </a:p>
        </p:txBody>
      </p:sp>
      <p:sp>
        <p:nvSpPr>
          <p:cNvPr id="10" name="Date Placeholder 2">
            <a:extLst>
              <a:ext uri="{FF2B5EF4-FFF2-40B4-BE49-F238E27FC236}">
                <a16:creationId xmlns:a16="http://schemas.microsoft.com/office/drawing/2014/main" id="{C8CBE8F9-096B-48BD-AF91-C68E84B4AE0C}"/>
              </a:ext>
            </a:extLst>
          </p:cNvPr>
          <p:cNvSpPr>
            <a:spLocks noGrp="1"/>
          </p:cNvSpPr>
          <p:nvPr>
            <p:ph type="dt" sz="half" idx="11"/>
          </p:nvPr>
        </p:nvSpPr>
        <p:spPr>
          <a:xfrm>
            <a:off x="695400" y="6278770"/>
            <a:ext cx="1656183" cy="365125"/>
          </a:xfrm>
          <a:ln>
            <a:noFill/>
          </a:ln>
        </p:spPr>
        <p:txBody>
          <a:bodyPr/>
          <a:lstStyle>
            <a:lvl1pPr>
              <a:defRPr b="1">
                <a:solidFill>
                  <a:schemeClr val="bg1">
                    <a:lumMod val="50000"/>
                  </a:schemeClr>
                </a:solidFill>
              </a:defRPr>
            </a:lvl1pPr>
          </a:lstStyle>
          <a:p>
            <a:fld id="{8368060C-F3A5-4600-9262-589A0797613D}" type="datetime1">
              <a:rPr lang="en-IN" smtClean="0"/>
              <a:pPr/>
              <a:t>02/10/26</a:t>
            </a:fld>
            <a:endParaRPr lang="en-US" dirty="0"/>
          </a:p>
        </p:txBody>
      </p:sp>
      <p:sp>
        <p:nvSpPr>
          <p:cNvPr id="11" name="Footer Placeholder 3">
            <a:extLst>
              <a:ext uri="{FF2B5EF4-FFF2-40B4-BE49-F238E27FC236}">
                <a16:creationId xmlns:a16="http://schemas.microsoft.com/office/drawing/2014/main" id="{9B80BD04-4FB9-48ED-8F04-82E1E9B47D6D}"/>
              </a:ext>
            </a:extLst>
          </p:cNvPr>
          <p:cNvSpPr>
            <a:spLocks noGrp="1"/>
          </p:cNvSpPr>
          <p:nvPr>
            <p:ph type="ftr" sz="quarter" idx="12"/>
          </p:nvPr>
        </p:nvSpPr>
        <p:spPr>
          <a:xfrm>
            <a:off x="2567608" y="6278771"/>
            <a:ext cx="6912768" cy="365125"/>
          </a:xfrm>
          <a:ln>
            <a:noFill/>
          </a:ln>
        </p:spPr>
        <p:txBody>
          <a:bodyPr/>
          <a:lstStyle>
            <a:lvl1pPr>
              <a:defRPr b="1">
                <a:solidFill>
                  <a:schemeClr val="bg1">
                    <a:lumMod val="50000"/>
                  </a:schemeClr>
                </a:solidFill>
              </a:defRPr>
            </a:lvl1pPr>
          </a:lstStyle>
          <a:p>
            <a:r>
              <a:rPr lang="en-US" dirty="0"/>
              <a:t>Course Name                                                                Faculty Name, Designation, Dept.</a:t>
            </a:r>
          </a:p>
        </p:txBody>
      </p:sp>
      <p:pic>
        <p:nvPicPr>
          <p:cNvPr id="1026" name="Picture 2">
            <a:extLst>
              <a:ext uri="{FF2B5EF4-FFF2-40B4-BE49-F238E27FC236}">
                <a16:creationId xmlns:a16="http://schemas.microsoft.com/office/drawing/2014/main" id="{A51A2048-2A34-7FBF-43D5-D3D3725F2AF1}"/>
              </a:ext>
            </a:extLst>
          </p:cNvPr>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240709" y="-243408"/>
            <a:ext cx="3249644" cy="1800000"/>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3">
            <a:extLst>
              <a:ext uri="{FF2B5EF4-FFF2-40B4-BE49-F238E27FC236}">
                <a16:creationId xmlns:a16="http://schemas.microsoft.com/office/drawing/2014/main" id="{504257EF-5910-55BD-B426-CB8A9D6AA207}"/>
              </a:ext>
            </a:extLst>
          </p:cNvPr>
          <p:cNvSpPr>
            <a:spLocks noGrp="1"/>
          </p:cNvSpPr>
          <p:nvPr>
            <p:ph type="sldNum" sz="quarter" idx="13"/>
          </p:nvPr>
        </p:nvSpPr>
        <p:spPr>
          <a:xfrm>
            <a:off x="10272464" y="6356350"/>
            <a:ext cx="1081336" cy="365125"/>
          </a:xfrm>
        </p:spPr>
        <p:txBody>
          <a:bodyPr/>
          <a:lstStyle/>
          <a:p>
            <a:fld id="{326EF2E3-409D-4D76-AD02-397A36B0DAF9}" type="slidenum">
              <a:rPr lang="en-US" smtClean="0"/>
              <a:pPr/>
              <a:t>‹#›</a:t>
            </a:fld>
            <a:endParaRPr lang="en-US" dirty="0"/>
          </a:p>
        </p:txBody>
      </p:sp>
    </p:spTree>
    <p:extLst>
      <p:ext uri="{BB962C8B-B14F-4D97-AF65-F5344CB8AC3E}">
        <p14:creationId xmlns:p14="http://schemas.microsoft.com/office/powerpoint/2010/main" val="37747766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2">
            <a:extLst>
              <a:ext uri="{FF2B5EF4-FFF2-40B4-BE49-F238E27FC236}">
                <a16:creationId xmlns:a16="http://schemas.microsoft.com/office/drawing/2014/main" id="{69367759-B4C6-4477-29E7-48E08870C81C}"/>
              </a:ext>
            </a:extLst>
          </p:cNvPr>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240709" y="-243408"/>
            <a:ext cx="3249644" cy="1800000"/>
          </a:xfrm>
          <a:prstGeom prst="rect">
            <a:avLst/>
          </a:prstGeom>
          <a:noFill/>
          <a:extLst>
            <a:ext uri="{909E8E84-426E-40DD-AFC4-6F175D3DCCD1}">
              <a14:hiddenFill xmlns:a14="http://schemas.microsoft.com/office/drawing/2010/main">
                <a:solidFill>
                  <a:srgbClr val="FFFFFF"/>
                </a:solidFill>
              </a14:hiddenFill>
            </a:ext>
          </a:extLst>
        </p:spPr>
      </p:pic>
      <p:sp>
        <p:nvSpPr>
          <p:cNvPr id="6" name="Date Placeholder 2">
            <a:extLst>
              <a:ext uri="{FF2B5EF4-FFF2-40B4-BE49-F238E27FC236}">
                <a16:creationId xmlns:a16="http://schemas.microsoft.com/office/drawing/2014/main" id="{DBBF301A-453A-BED0-C53C-37286AA00C5A}"/>
              </a:ext>
            </a:extLst>
          </p:cNvPr>
          <p:cNvSpPr>
            <a:spLocks noGrp="1"/>
          </p:cNvSpPr>
          <p:nvPr>
            <p:ph type="dt" sz="half" idx="11"/>
          </p:nvPr>
        </p:nvSpPr>
        <p:spPr>
          <a:xfrm>
            <a:off x="695400" y="6278770"/>
            <a:ext cx="1656183" cy="365125"/>
          </a:xfrm>
          <a:ln>
            <a:noFill/>
          </a:ln>
        </p:spPr>
        <p:txBody>
          <a:bodyPr/>
          <a:lstStyle>
            <a:lvl1pPr>
              <a:defRPr b="1">
                <a:solidFill>
                  <a:schemeClr val="bg1">
                    <a:lumMod val="50000"/>
                  </a:schemeClr>
                </a:solidFill>
              </a:defRPr>
            </a:lvl1pPr>
          </a:lstStyle>
          <a:p>
            <a:fld id="{8368060C-F3A5-4600-9262-589A0797613D}" type="datetime1">
              <a:rPr lang="en-IN" smtClean="0"/>
              <a:pPr/>
              <a:t>02/10/26</a:t>
            </a:fld>
            <a:endParaRPr lang="en-US" dirty="0"/>
          </a:p>
        </p:txBody>
      </p:sp>
      <p:sp>
        <p:nvSpPr>
          <p:cNvPr id="7" name="Footer Placeholder 3">
            <a:extLst>
              <a:ext uri="{FF2B5EF4-FFF2-40B4-BE49-F238E27FC236}">
                <a16:creationId xmlns:a16="http://schemas.microsoft.com/office/drawing/2014/main" id="{1BBB8F58-91C5-AB5A-807E-19452F655655}"/>
              </a:ext>
            </a:extLst>
          </p:cNvPr>
          <p:cNvSpPr>
            <a:spLocks noGrp="1"/>
          </p:cNvSpPr>
          <p:nvPr>
            <p:ph type="ftr" sz="quarter" idx="12"/>
          </p:nvPr>
        </p:nvSpPr>
        <p:spPr>
          <a:xfrm>
            <a:off x="2567608" y="6278771"/>
            <a:ext cx="6912768" cy="365125"/>
          </a:xfrm>
          <a:ln>
            <a:noFill/>
          </a:ln>
        </p:spPr>
        <p:txBody>
          <a:bodyPr/>
          <a:lstStyle>
            <a:lvl1pPr>
              <a:defRPr b="1">
                <a:solidFill>
                  <a:schemeClr val="bg1">
                    <a:lumMod val="50000"/>
                  </a:schemeClr>
                </a:solidFill>
              </a:defRPr>
            </a:lvl1pPr>
          </a:lstStyle>
          <a:p>
            <a:r>
              <a:rPr lang="en-US" dirty="0"/>
              <a:t>Data Science                                                                K Vydehi, Asst Professor, CSE Dept.</a:t>
            </a:r>
          </a:p>
        </p:txBody>
      </p:sp>
      <p:sp>
        <p:nvSpPr>
          <p:cNvPr id="8" name="Slide Number Placeholder 3">
            <a:extLst>
              <a:ext uri="{FF2B5EF4-FFF2-40B4-BE49-F238E27FC236}">
                <a16:creationId xmlns:a16="http://schemas.microsoft.com/office/drawing/2014/main" id="{119C11AA-4309-9F6B-48A3-24FE199327D5}"/>
              </a:ext>
            </a:extLst>
          </p:cNvPr>
          <p:cNvSpPr>
            <a:spLocks noGrp="1"/>
          </p:cNvSpPr>
          <p:nvPr>
            <p:ph type="sldNum" sz="quarter" idx="13"/>
          </p:nvPr>
        </p:nvSpPr>
        <p:spPr>
          <a:xfrm>
            <a:off x="10272464" y="6356350"/>
            <a:ext cx="1081336" cy="365125"/>
          </a:xfrm>
        </p:spPr>
        <p:txBody>
          <a:bodyPr/>
          <a:lstStyle/>
          <a:p>
            <a:fld id="{326EF2E3-409D-4D76-AD02-397A36B0DAF9}" type="slidenum">
              <a:rPr lang="en-US" smtClean="0"/>
              <a:pPr/>
              <a:t>‹#›</a:t>
            </a:fld>
            <a:endParaRPr lang="en-US" dirty="0"/>
          </a:p>
        </p:txBody>
      </p:sp>
    </p:spTree>
    <p:extLst>
      <p:ext uri="{BB962C8B-B14F-4D97-AF65-F5344CB8AC3E}">
        <p14:creationId xmlns:p14="http://schemas.microsoft.com/office/powerpoint/2010/main" val="54807969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433AD86-BCE5-402A-9A63-AC164DC60237}" type="datetime1">
              <a:rPr lang="en-IN" smtClean="0"/>
              <a:pPr/>
              <a:t>02/10/26</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dirty="0"/>
              <a:t>Course Name                                                                Faculty Name, Designation, Dept.</a:t>
            </a: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26EF2E3-409D-4D76-AD02-397A36B0DAF9}" type="slidenum">
              <a:rPr lang="en-US" smtClean="0"/>
              <a:pPr/>
              <a:t>‹#›</a:t>
            </a:fld>
            <a:endParaRPr lang="en-US" dirty="0"/>
          </a:p>
        </p:txBody>
      </p:sp>
    </p:spTree>
    <p:extLst>
      <p:ext uri="{BB962C8B-B14F-4D97-AF65-F5344CB8AC3E}">
        <p14:creationId xmlns:p14="http://schemas.microsoft.com/office/powerpoint/2010/main" val="3427235747"/>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9" r:id="rId3"/>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jpe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jpe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2.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1"/>
          <p:cNvSpPr txBox="1">
            <a:spLocks/>
          </p:cNvSpPr>
          <p:nvPr/>
        </p:nvSpPr>
        <p:spPr>
          <a:xfrm>
            <a:off x="1703512" y="1484784"/>
            <a:ext cx="9217024" cy="1800200"/>
          </a:xfrm>
          <a:prstGeom prst="rect">
            <a:avLst/>
          </a:prstGeom>
        </p:spPr>
        <p:txBody>
          <a:bodyPr vert="horz" lIns="91440" tIns="45720" rIns="91440" bIns="45720" rtlCol="0" anchor="b">
            <a:noAutofit/>
          </a:bodyPr>
          <a:lstStyle/>
          <a:p>
            <a:pPr lvl="0" algn="ctr" defTabSz="914400">
              <a:lnSpc>
                <a:spcPct val="90000"/>
              </a:lnSpc>
              <a:spcBef>
                <a:spcPct val="0"/>
              </a:spcBef>
              <a:defRPr/>
            </a:pPr>
            <a:r>
              <a:rPr lang="en-IN" sz="2800" b="1" dirty="0">
                <a:solidFill>
                  <a:srgbClr val="C00000"/>
                </a:solidFill>
                <a:latin typeface="ADLaM Display" panose="02010000000000000000" pitchFamily="2" charset="0"/>
                <a:ea typeface="ADLaM Display" panose="02010000000000000000" pitchFamily="2" charset="0"/>
                <a:cs typeface="ADLaM Display" panose="02010000000000000000" pitchFamily="2" charset="0"/>
              </a:rPr>
              <a:t>ENERGY CONSUMPTION ACROSS</a:t>
            </a:r>
          </a:p>
          <a:p>
            <a:pPr lvl="0" algn="ctr" defTabSz="914400">
              <a:lnSpc>
                <a:spcPct val="90000"/>
              </a:lnSpc>
              <a:spcBef>
                <a:spcPct val="0"/>
              </a:spcBef>
              <a:defRPr/>
            </a:pPr>
            <a:r>
              <a:rPr lang="en-IN" sz="2800" b="1" dirty="0">
                <a:solidFill>
                  <a:srgbClr val="C00000"/>
                </a:solidFill>
                <a:latin typeface="ADLaM Display" panose="02010000000000000000" pitchFamily="2" charset="0"/>
                <a:ea typeface="ADLaM Display" panose="02010000000000000000" pitchFamily="2" charset="0"/>
                <a:cs typeface="ADLaM Display" panose="02010000000000000000" pitchFamily="2" charset="0"/>
              </a:rPr>
              <a:t> BUILDINGS</a:t>
            </a:r>
          </a:p>
          <a:p>
            <a:pPr lvl="0" algn="ctr" defTabSz="914400">
              <a:lnSpc>
                <a:spcPct val="90000"/>
              </a:lnSpc>
              <a:spcBef>
                <a:spcPct val="0"/>
              </a:spcBef>
              <a:defRPr/>
            </a:pPr>
            <a:r>
              <a:rPr lang="en-IN" sz="2000" b="1"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DATA ANALYSIS ESSENTIALS</a:t>
            </a:r>
          </a:p>
        </p:txBody>
      </p:sp>
      <p:sp>
        <p:nvSpPr>
          <p:cNvPr id="6" name="Subtitle 2"/>
          <p:cNvSpPr txBox="1">
            <a:spLocks/>
          </p:cNvSpPr>
          <p:nvPr/>
        </p:nvSpPr>
        <p:spPr>
          <a:xfrm>
            <a:off x="1615735" y="5085184"/>
            <a:ext cx="8960530" cy="1477328"/>
          </a:xfrm>
          <a:prstGeom prst="rect">
            <a:avLst/>
          </a:prstGeom>
        </p:spPr>
        <p:txBody>
          <a:bodyPr vert="horz" lIns="91440" tIns="45720" rIns="91440" bIns="45720" rtlCol="0">
            <a:normAutofit fontScale="92500" lnSpcReduction="10000"/>
          </a:body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srgbClr val="002060"/>
                </a:solidFill>
                <a:effectLst/>
                <a:uLnTx/>
                <a:uFillTx/>
                <a:latin typeface="Tw Cen MT" pitchFamily="34" charset="0"/>
                <a:ea typeface="+mn-ea"/>
                <a:cs typeface="+mn-cs"/>
              </a:rPr>
              <a:t>UNDER THE SUPERVISION OF</a:t>
            </a:r>
          </a:p>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srgbClr val="002060"/>
                </a:solidFill>
                <a:effectLst/>
                <a:uLnTx/>
                <a:uFillTx/>
                <a:latin typeface="Tw Cen MT" pitchFamily="34" charset="0"/>
                <a:ea typeface="+mn-ea"/>
                <a:cs typeface="+mn-cs"/>
              </a:rPr>
              <a:t>K Vydehi</a:t>
            </a:r>
          </a:p>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sz="2000" dirty="0">
                <a:solidFill>
                  <a:srgbClr val="002060"/>
                </a:solidFill>
                <a:latin typeface="Tw Cen MT" pitchFamily="34" charset="0"/>
              </a:rPr>
              <a:t>Assistant Professor</a:t>
            </a:r>
          </a:p>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srgbClr val="002060"/>
                </a:solidFill>
                <a:effectLst/>
                <a:uLnTx/>
                <a:uFillTx/>
                <a:latin typeface="Tw Cen MT" pitchFamily="34" charset="0"/>
                <a:ea typeface="+mn-ea"/>
                <a:cs typeface="+mn-cs"/>
              </a:rPr>
              <a:t>Department of</a:t>
            </a:r>
            <a:r>
              <a:rPr kumimoji="0" lang="en-US" sz="2000" b="0" i="0" u="none" strike="noStrike" kern="1200" cap="none" spc="0" normalizeH="0" noProof="0" dirty="0">
                <a:ln>
                  <a:noFill/>
                </a:ln>
                <a:solidFill>
                  <a:srgbClr val="002060"/>
                </a:solidFill>
                <a:effectLst/>
                <a:uLnTx/>
                <a:uFillTx/>
                <a:latin typeface="Tw Cen MT" pitchFamily="34" charset="0"/>
                <a:ea typeface="+mn-ea"/>
                <a:cs typeface="+mn-cs"/>
              </a:rPr>
              <a:t> CSE</a:t>
            </a:r>
            <a:r>
              <a:rPr kumimoji="0" lang="en-US" sz="2000" b="0" i="0" u="none" strike="noStrike" kern="1200" cap="none" spc="0" normalizeH="0" baseline="0" noProof="0" dirty="0">
                <a:ln>
                  <a:noFill/>
                </a:ln>
                <a:solidFill>
                  <a:srgbClr val="002060"/>
                </a:solidFill>
                <a:effectLst/>
                <a:uLnTx/>
                <a:uFillTx/>
                <a:latin typeface="Tw Cen MT" pitchFamily="34" charset="0"/>
                <a:ea typeface="+mn-ea"/>
                <a:cs typeface="+mn-cs"/>
              </a:rPr>
              <a:t> </a:t>
            </a:r>
            <a:endParaRPr lang="en-US" sz="2000" dirty="0">
              <a:solidFill>
                <a:srgbClr val="002060"/>
              </a:solidFill>
              <a:latin typeface="Tw Cen MT" pitchFamily="34" charset="0"/>
            </a:endParaRPr>
          </a:p>
        </p:txBody>
      </p:sp>
      <p:sp>
        <p:nvSpPr>
          <p:cNvPr id="2" name="TextBox 1">
            <a:extLst>
              <a:ext uri="{FF2B5EF4-FFF2-40B4-BE49-F238E27FC236}">
                <a16:creationId xmlns:a16="http://schemas.microsoft.com/office/drawing/2014/main" id="{0624C738-684E-1B58-6CCC-8E8D9A043AA0}"/>
              </a:ext>
            </a:extLst>
          </p:cNvPr>
          <p:cNvSpPr txBox="1"/>
          <p:nvPr/>
        </p:nvSpPr>
        <p:spPr>
          <a:xfrm>
            <a:off x="4151784" y="3504120"/>
            <a:ext cx="4824536" cy="1477328"/>
          </a:xfrm>
          <a:prstGeom prst="rect">
            <a:avLst/>
          </a:prstGeom>
          <a:noFill/>
        </p:spPr>
        <p:txBody>
          <a:bodyPr wrap="square" rtlCol="0">
            <a:spAutoFit/>
          </a:bodyPr>
          <a:lstStyle/>
          <a:p>
            <a:r>
              <a:rPr lang="en-IN" b="1" dirty="0"/>
              <a:t>                          TEAM MEMBERS</a:t>
            </a:r>
          </a:p>
          <a:p>
            <a:r>
              <a:rPr lang="en-IN" dirty="0"/>
              <a:t>25B11CS718 – PASALA HARINI</a:t>
            </a:r>
          </a:p>
          <a:p>
            <a:r>
              <a:rPr lang="en-IN" dirty="0"/>
              <a:t>25B11CS517 – LAVETI ROSHINI</a:t>
            </a:r>
          </a:p>
          <a:p>
            <a:r>
              <a:rPr lang="en-IN" dirty="0"/>
              <a:t>25B11CS623 – MUPPANABOINA VAMSI KALYAN</a:t>
            </a:r>
          </a:p>
          <a:p>
            <a:r>
              <a:rPr lang="en-IN" dirty="0"/>
              <a:t>25B11CS700 – PALIVELA PRAHARSHA SAI CHARAN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1">
            <a:extLst>
              <a:ext uri="{FF2B5EF4-FFF2-40B4-BE49-F238E27FC236}">
                <a16:creationId xmlns:a16="http://schemas.microsoft.com/office/drawing/2014/main" id="{C4B12F71-216B-4B4A-9933-2017B3D46F1E}"/>
              </a:ext>
            </a:extLst>
          </p:cNvPr>
          <p:cNvSpPr txBox="1">
            <a:spLocks/>
          </p:cNvSpPr>
          <p:nvPr/>
        </p:nvSpPr>
        <p:spPr>
          <a:xfrm>
            <a:off x="869085" y="1561876"/>
            <a:ext cx="10515600" cy="4531419"/>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fontAlgn="auto"/>
            <a:endParaRPr lang="en-US" dirty="0">
              <a:latin typeface="Times New Roman" pitchFamily="18" charset="0"/>
              <a:cs typeface="Times New Roman" pitchFamily="18" charset="0"/>
            </a:endParaRPr>
          </a:p>
          <a:p>
            <a:pPr fontAlgn="auto"/>
            <a:endParaRPr lang="en-US" dirty="0">
              <a:latin typeface="Times New Roman" pitchFamily="18" charset="0"/>
              <a:cs typeface="Times New Roman" pitchFamily="18" charset="0"/>
            </a:endParaRPr>
          </a:p>
        </p:txBody>
      </p:sp>
      <p:sp>
        <p:nvSpPr>
          <p:cNvPr id="6" name="TextBox 5">
            <a:extLst>
              <a:ext uri="{FF2B5EF4-FFF2-40B4-BE49-F238E27FC236}">
                <a16:creationId xmlns:a16="http://schemas.microsoft.com/office/drawing/2014/main" id="{7862E4AC-212E-43EC-956C-B30F3E8CC9D6}"/>
              </a:ext>
            </a:extLst>
          </p:cNvPr>
          <p:cNvSpPr txBox="1"/>
          <p:nvPr/>
        </p:nvSpPr>
        <p:spPr>
          <a:xfrm>
            <a:off x="1991544" y="575546"/>
            <a:ext cx="8856984" cy="646331"/>
          </a:xfrm>
          <a:prstGeom prst="rect">
            <a:avLst/>
          </a:prstGeom>
          <a:noFill/>
        </p:spPr>
        <p:txBody>
          <a:bodyPr wrap="square" rtlCol="0">
            <a:spAutoFit/>
          </a:bodyPr>
          <a:lstStyle/>
          <a:p>
            <a:pPr algn="ctr"/>
            <a:r>
              <a:rPr lang="en-IN" sz="3600" dirty="0">
                <a:solidFill>
                  <a:schemeClr val="accent2">
                    <a:lumMod val="75000"/>
                  </a:schemeClr>
                </a:solidFill>
                <a:latin typeface="ADLaM Display" panose="02010000000000000000" pitchFamily="2" charset="0"/>
                <a:ea typeface="ADLaM Display" panose="02010000000000000000" pitchFamily="2" charset="0"/>
                <a:cs typeface="ADLaM Display" panose="02010000000000000000" pitchFamily="2" charset="0"/>
              </a:rPr>
              <a:t>PROBLEM STATEMENT</a:t>
            </a:r>
          </a:p>
        </p:txBody>
      </p:sp>
      <p:sp>
        <p:nvSpPr>
          <p:cNvPr id="7" name="TextBox 6">
            <a:extLst>
              <a:ext uri="{FF2B5EF4-FFF2-40B4-BE49-F238E27FC236}">
                <a16:creationId xmlns:a16="http://schemas.microsoft.com/office/drawing/2014/main" id="{C8EF13C9-42FB-60ED-8B2A-1C9B552DE041}"/>
              </a:ext>
            </a:extLst>
          </p:cNvPr>
          <p:cNvSpPr txBox="1"/>
          <p:nvPr/>
        </p:nvSpPr>
        <p:spPr>
          <a:xfrm>
            <a:off x="1847528" y="2132856"/>
            <a:ext cx="8352928" cy="2739211"/>
          </a:xfrm>
          <a:prstGeom prst="rect">
            <a:avLst/>
          </a:prstGeom>
          <a:noFill/>
        </p:spPr>
        <p:txBody>
          <a:bodyPr wrap="square" rtlCol="0">
            <a:spAutoFit/>
          </a:bodyPr>
          <a:lstStyle/>
          <a:p>
            <a:pPr algn="just"/>
            <a:r>
              <a:rPr lang="en-IN" sz="2400" dirty="0"/>
              <a:t>Buildings consume significant global energy, yet many waste energy due to occupancy, weather, building type, and equipment usage. This project analyzes building energy data to identify consumption patterns, detect inefficiencies, and recommend ways to improve energy efficiency, reduce costs, and support sustainability.</a:t>
            </a:r>
          </a:p>
          <a:p>
            <a:pPr algn="just"/>
            <a:endParaRPr lang="en-IN" sz="2800" dirty="0"/>
          </a:p>
        </p:txBody>
      </p:sp>
    </p:spTree>
    <p:extLst>
      <p:ext uri="{BB962C8B-B14F-4D97-AF65-F5344CB8AC3E}">
        <p14:creationId xmlns:p14="http://schemas.microsoft.com/office/powerpoint/2010/main" val="26804781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862E4AC-212E-43EC-956C-B30F3E8CC9D6}"/>
              </a:ext>
            </a:extLst>
          </p:cNvPr>
          <p:cNvSpPr txBox="1"/>
          <p:nvPr/>
        </p:nvSpPr>
        <p:spPr>
          <a:xfrm>
            <a:off x="2711624" y="642918"/>
            <a:ext cx="7128792" cy="646331"/>
          </a:xfrm>
          <a:prstGeom prst="rect">
            <a:avLst/>
          </a:prstGeom>
          <a:noFill/>
        </p:spPr>
        <p:txBody>
          <a:bodyPr wrap="square" rtlCol="0">
            <a:spAutoFit/>
          </a:bodyPr>
          <a:lstStyle/>
          <a:p>
            <a:pPr algn="ctr"/>
            <a:r>
              <a:rPr lang="en-IN" sz="3600" b="1" dirty="0">
                <a:solidFill>
                  <a:schemeClr val="accent2">
                    <a:lumMod val="75000"/>
                  </a:schemeClr>
                </a:solidFill>
                <a:latin typeface="ADLaM Display" panose="02010000000000000000" pitchFamily="2" charset="0"/>
                <a:ea typeface="ADLaM Display" panose="02010000000000000000" pitchFamily="2" charset="0"/>
                <a:cs typeface="ADLaM Display" panose="02010000000000000000" pitchFamily="2" charset="0"/>
              </a:rPr>
              <a:t>OBJECTIVES</a:t>
            </a:r>
          </a:p>
        </p:txBody>
      </p:sp>
      <p:sp>
        <p:nvSpPr>
          <p:cNvPr id="7" name="Content Placeholder 1">
            <a:extLst>
              <a:ext uri="{FF2B5EF4-FFF2-40B4-BE49-F238E27FC236}">
                <a16:creationId xmlns:a16="http://schemas.microsoft.com/office/drawing/2014/main" id="{C4B12F71-216B-4B4A-9933-2017B3D46F1E}"/>
              </a:ext>
            </a:extLst>
          </p:cNvPr>
          <p:cNvSpPr txBox="1">
            <a:spLocks/>
          </p:cNvSpPr>
          <p:nvPr/>
        </p:nvSpPr>
        <p:spPr>
          <a:xfrm>
            <a:off x="869085" y="1772816"/>
            <a:ext cx="10515600" cy="4320479"/>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r>
              <a:rPr lang="en-IN" sz="2400" dirty="0"/>
              <a:t>Collect and analyze energy data from multiple buildings.</a:t>
            </a:r>
          </a:p>
          <a:p>
            <a:pPr lvl="0"/>
            <a:r>
              <a:rPr lang="en-IN" sz="2400" dirty="0"/>
              <a:t>Compare consumption across different building types.</a:t>
            </a:r>
          </a:p>
          <a:p>
            <a:pPr lvl="0"/>
            <a:r>
              <a:rPr lang="en-IN" sz="2400" dirty="0"/>
              <a:t>Identify key factors affecting energy usage.</a:t>
            </a:r>
          </a:p>
          <a:p>
            <a:pPr lvl="0"/>
            <a:r>
              <a:rPr lang="en-IN" sz="2400" dirty="0"/>
              <a:t>Detect abnormal consumption and energy wastage.</a:t>
            </a:r>
          </a:p>
          <a:p>
            <a:pPr lvl="0"/>
            <a:r>
              <a:rPr lang="en-IN" sz="2400" dirty="0"/>
              <a:t>Visualize trends using charts and dashboards.</a:t>
            </a:r>
          </a:p>
          <a:p>
            <a:pPr lvl="0"/>
            <a:r>
              <a:rPr lang="en-IN" sz="2400" dirty="0"/>
              <a:t>Recommend ways to improve efficiency and reduce costs.</a:t>
            </a:r>
          </a:p>
          <a:p>
            <a:pPr lvl="0"/>
            <a:r>
              <a:rPr lang="en-IN" sz="2400" dirty="0"/>
              <a:t>Support sustainable energy management through data analytics.</a:t>
            </a:r>
          </a:p>
          <a:p>
            <a:pPr marL="0" indent="0" fontAlgn="auto">
              <a:buNone/>
            </a:pPr>
            <a:endParaRPr lang="en-IN" sz="3200" dirty="0">
              <a:latin typeface="Times New Roman" pitchFamily="18" charset="0"/>
              <a:cs typeface="Times New Roman" pitchFamily="18" charset="0"/>
            </a:endParaRPr>
          </a:p>
        </p:txBody>
      </p:sp>
    </p:spTree>
    <p:extLst>
      <p:ext uri="{BB962C8B-B14F-4D97-AF65-F5344CB8AC3E}">
        <p14:creationId xmlns:p14="http://schemas.microsoft.com/office/powerpoint/2010/main" val="28038023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862E4AC-212E-43EC-956C-B30F3E8CC9D6}"/>
              </a:ext>
            </a:extLst>
          </p:cNvPr>
          <p:cNvSpPr txBox="1"/>
          <p:nvPr/>
        </p:nvSpPr>
        <p:spPr>
          <a:xfrm>
            <a:off x="869084" y="961711"/>
            <a:ext cx="10843539" cy="646331"/>
          </a:xfrm>
          <a:prstGeom prst="rect">
            <a:avLst/>
          </a:prstGeom>
          <a:noFill/>
        </p:spPr>
        <p:txBody>
          <a:bodyPr wrap="square" rtlCol="0">
            <a:spAutoFit/>
          </a:bodyPr>
          <a:lstStyle/>
          <a:p>
            <a:pPr algn="ctr"/>
            <a:r>
              <a:rPr lang="en-US" sz="3600" b="1" dirty="0">
                <a:solidFill>
                  <a:schemeClr val="accent2">
                    <a:lumMod val="75000"/>
                  </a:schemeClr>
                </a:solidFill>
                <a:latin typeface="ADLaM Display" panose="02010000000000000000" pitchFamily="2" charset="0"/>
                <a:ea typeface="ADLaM Display" panose="02010000000000000000" pitchFamily="2" charset="0"/>
                <a:cs typeface="ADLaM Display" panose="02010000000000000000" pitchFamily="2" charset="0"/>
              </a:rPr>
              <a:t>DOMAIN SELECTION </a:t>
            </a:r>
          </a:p>
        </p:txBody>
      </p:sp>
      <p:sp>
        <p:nvSpPr>
          <p:cNvPr id="6" name="Content Placeholder 1">
            <a:extLst>
              <a:ext uri="{FF2B5EF4-FFF2-40B4-BE49-F238E27FC236}">
                <a16:creationId xmlns:a16="http://schemas.microsoft.com/office/drawing/2014/main" id="{C4B12F71-216B-4B4A-9933-2017B3D46F1E}"/>
              </a:ext>
            </a:extLst>
          </p:cNvPr>
          <p:cNvSpPr txBox="1">
            <a:spLocks/>
          </p:cNvSpPr>
          <p:nvPr/>
        </p:nvSpPr>
        <p:spPr>
          <a:xfrm>
            <a:off x="869085" y="1705893"/>
            <a:ext cx="10515600" cy="4531419"/>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fontAlgn="auto">
              <a:buNone/>
            </a:pPr>
            <a:endParaRPr lang="en-IN" sz="2400" dirty="0">
              <a:latin typeface="Times New Roman" pitchFamily="18" charset="0"/>
              <a:cs typeface="Times New Roman" pitchFamily="18" charset="0"/>
            </a:endParaRPr>
          </a:p>
        </p:txBody>
      </p:sp>
      <p:sp>
        <p:nvSpPr>
          <p:cNvPr id="8" name="TextBox 7">
            <a:extLst>
              <a:ext uri="{FF2B5EF4-FFF2-40B4-BE49-F238E27FC236}">
                <a16:creationId xmlns:a16="http://schemas.microsoft.com/office/drawing/2014/main" id="{8D573B9C-6555-00E1-0D68-26F034C53609}"/>
              </a:ext>
            </a:extLst>
          </p:cNvPr>
          <p:cNvSpPr txBox="1"/>
          <p:nvPr/>
        </p:nvSpPr>
        <p:spPr>
          <a:xfrm>
            <a:off x="807315" y="1705894"/>
            <a:ext cx="10113221" cy="4801314"/>
          </a:xfrm>
          <a:prstGeom prst="rect">
            <a:avLst/>
          </a:prstGeom>
          <a:noFill/>
        </p:spPr>
        <p:txBody>
          <a:bodyPr wrap="square">
            <a:spAutoFit/>
          </a:bodyPr>
          <a:lstStyle/>
          <a:p>
            <a:pPr lvl="0">
              <a:lnSpc>
                <a:spcPct val="150000"/>
              </a:lnSpc>
            </a:pPr>
            <a:r>
              <a:rPr lang="en-IN" sz="2000" dirty="0"/>
              <a:t>Energy Monitoring: </a:t>
            </a:r>
            <a:r>
              <a:rPr lang="en-IN" sz="2000" dirty="0" err="1"/>
              <a:t>Analyze</a:t>
            </a:r>
            <a:r>
              <a:rPr lang="en-IN" sz="2000" dirty="0"/>
              <a:t> electricity and other energy meter readings across buildings.</a:t>
            </a:r>
          </a:p>
          <a:p>
            <a:pPr lvl="0">
              <a:lnSpc>
                <a:spcPct val="150000"/>
              </a:lnSpc>
            </a:pPr>
            <a:r>
              <a:rPr lang="en-IN" sz="2000" dirty="0"/>
              <a:t>Building Analysis: Study how building type, size, age, and floor count affect energy consumption.</a:t>
            </a:r>
          </a:p>
          <a:p>
            <a:pPr lvl="0">
              <a:lnSpc>
                <a:spcPct val="150000"/>
              </a:lnSpc>
            </a:pPr>
            <a:r>
              <a:rPr lang="en-IN" sz="2000" dirty="0"/>
              <a:t>Weather Impact: </a:t>
            </a:r>
            <a:r>
              <a:rPr lang="en-IN" sz="2000" dirty="0" err="1"/>
              <a:t>Analyze</a:t>
            </a:r>
            <a:r>
              <a:rPr lang="en-IN" sz="2000" dirty="0"/>
              <a:t> the influence of temperature, humidity, wind, and other weather conditions.</a:t>
            </a:r>
          </a:p>
          <a:p>
            <a:pPr lvl="0">
              <a:lnSpc>
                <a:spcPct val="150000"/>
              </a:lnSpc>
            </a:pPr>
            <a:r>
              <a:rPr lang="en-IN" sz="2000" dirty="0"/>
              <a:t>Consumption Pattern Analysis: Identify daily, weekly, and monthly energy usage patterns.</a:t>
            </a:r>
          </a:p>
          <a:p>
            <a:pPr lvl="0">
              <a:lnSpc>
                <a:spcPct val="150000"/>
              </a:lnSpc>
            </a:pPr>
            <a:r>
              <a:rPr lang="en-IN" sz="2000" dirty="0"/>
              <a:t>Energy Efficiency: Detect unusual consumption and identify opportunities to reduce energy waste.</a:t>
            </a:r>
          </a:p>
          <a:p>
            <a:pPr lvl="0">
              <a:lnSpc>
                <a:spcPct val="150000"/>
              </a:lnSpc>
            </a:pPr>
            <a:r>
              <a:rPr lang="en-IN" sz="2000" dirty="0"/>
              <a:t>Sustainable Management: Use data-driven insights to support efficient and sustainable energy usage.</a:t>
            </a:r>
          </a:p>
          <a:p>
            <a:pPr algn="just"/>
            <a:endParaRPr lang="en-IN" sz="3600" dirty="0"/>
          </a:p>
        </p:txBody>
      </p:sp>
    </p:spTree>
    <p:extLst>
      <p:ext uri="{BB962C8B-B14F-4D97-AF65-F5344CB8AC3E}">
        <p14:creationId xmlns:p14="http://schemas.microsoft.com/office/powerpoint/2010/main" val="23300335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7862E4AC-212E-43EC-956C-B30F3E8CC9D6}"/>
              </a:ext>
            </a:extLst>
          </p:cNvPr>
          <p:cNvSpPr txBox="1"/>
          <p:nvPr/>
        </p:nvSpPr>
        <p:spPr>
          <a:xfrm>
            <a:off x="623392" y="1052736"/>
            <a:ext cx="10561550" cy="646331"/>
          </a:xfrm>
          <a:prstGeom prst="rect">
            <a:avLst/>
          </a:prstGeom>
          <a:noFill/>
        </p:spPr>
        <p:txBody>
          <a:bodyPr wrap="square" rtlCol="0">
            <a:spAutoFit/>
          </a:bodyPr>
          <a:lstStyle/>
          <a:p>
            <a:pPr algn="ctr"/>
            <a:r>
              <a:rPr lang="en-US" sz="3600" b="1" dirty="0">
                <a:solidFill>
                  <a:schemeClr val="accent2">
                    <a:lumMod val="75000"/>
                  </a:schemeClr>
                </a:solidFill>
                <a:latin typeface="ADLaM Display" panose="02010000000000000000" pitchFamily="2" charset="0"/>
                <a:ea typeface="ADLaM Display" panose="02010000000000000000" pitchFamily="2" charset="0"/>
                <a:cs typeface="ADLaM Display" panose="02010000000000000000" pitchFamily="2" charset="0"/>
              </a:rPr>
              <a:t>IMPORTANCE OF THE PROBLEM </a:t>
            </a:r>
          </a:p>
        </p:txBody>
      </p:sp>
      <p:sp>
        <p:nvSpPr>
          <p:cNvPr id="9" name="TextBox 8">
            <a:extLst>
              <a:ext uri="{FF2B5EF4-FFF2-40B4-BE49-F238E27FC236}">
                <a16:creationId xmlns:a16="http://schemas.microsoft.com/office/drawing/2014/main" id="{05440583-7BF8-97BA-39B1-5B9E62885429}"/>
              </a:ext>
            </a:extLst>
          </p:cNvPr>
          <p:cNvSpPr txBox="1"/>
          <p:nvPr/>
        </p:nvSpPr>
        <p:spPr>
          <a:xfrm>
            <a:off x="1055440" y="2389978"/>
            <a:ext cx="10561550" cy="2954655"/>
          </a:xfrm>
          <a:prstGeom prst="rect">
            <a:avLst/>
          </a:prstGeom>
          <a:noFill/>
        </p:spPr>
        <p:txBody>
          <a:bodyPr wrap="square" rtlCol="0">
            <a:spAutoFit/>
          </a:bodyPr>
          <a:lstStyle/>
          <a:p>
            <a:r>
              <a:rPr lang="en-IN" sz="2400" dirty="0"/>
              <a:t>Buildings consume 30–40% of global energy, contributing significantly to carbon emissions. Energy data analysis helps organizations:</a:t>
            </a:r>
          </a:p>
          <a:p>
            <a:pPr marL="457200" lvl="0" indent="-457200">
              <a:buFont typeface="Wingdings" panose="05000000000000000000" pitchFamily="2" charset="2"/>
              <a:buChar char="Ø"/>
            </a:pPr>
            <a:r>
              <a:rPr lang="en-IN" sz="2400" dirty="0"/>
              <a:t>Identify inefficient equipment.</a:t>
            </a:r>
          </a:p>
          <a:p>
            <a:pPr marL="457200" lvl="0" indent="-457200">
              <a:buFont typeface="Wingdings" panose="05000000000000000000" pitchFamily="2" charset="2"/>
              <a:buChar char="Ø"/>
            </a:pPr>
            <a:r>
              <a:rPr lang="en-IN" sz="2400" dirty="0"/>
              <a:t>Detect abnormal energy usage.</a:t>
            </a:r>
          </a:p>
          <a:p>
            <a:pPr marL="457200" lvl="0" indent="-457200">
              <a:buFont typeface="Wingdings" panose="05000000000000000000" pitchFamily="2" charset="2"/>
              <a:buChar char="Ø"/>
            </a:pPr>
            <a:r>
              <a:rPr lang="en-IN" sz="2400" dirty="0"/>
              <a:t>Reduce electricity costs.</a:t>
            </a:r>
          </a:p>
          <a:p>
            <a:pPr marL="457200" lvl="0" indent="-457200">
              <a:buFont typeface="Wingdings" panose="05000000000000000000" pitchFamily="2" charset="2"/>
              <a:buChar char="Ø"/>
            </a:pPr>
            <a:r>
              <a:rPr lang="en-IN" sz="2400" dirty="0"/>
              <a:t>Improve energy efficiency and sustainability.</a:t>
            </a:r>
          </a:p>
          <a:p>
            <a:pPr marL="457200" lvl="0" indent="-457200">
              <a:buFont typeface="Wingdings" panose="05000000000000000000" pitchFamily="2" charset="2"/>
              <a:buChar char="Ø"/>
            </a:pPr>
            <a:r>
              <a:rPr lang="en-IN" sz="2400" dirty="0"/>
              <a:t>Lower carbon emissions.</a:t>
            </a:r>
          </a:p>
          <a:p>
            <a:endParaRPr lang="en-IN" dirty="0"/>
          </a:p>
        </p:txBody>
      </p:sp>
    </p:spTree>
    <p:extLst>
      <p:ext uri="{BB962C8B-B14F-4D97-AF65-F5344CB8AC3E}">
        <p14:creationId xmlns:p14="http://schemas.microsoft.com/office/powerpoint/2010/main" val="12661681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537C99F-9614-0CD4-F8E8-EF2427DD3E80}"/>
              </a:ext>
            </a:extLst>
          </p:cNvPr>
          <p:cNvSpPr>
            <a:spLocks noGrp="1"/>
          </p:cNvSpPr>
          <p:nvPr>
            <p:ph type="dt" sz="half" idx="11"/>
          </p:nvPr>
        </p:nvSpPr>
        <p:spPr/>
        <p:txBody>
          <a:bodyPr/>
          <a:lstStyle/>
          <a:p>
            <a:fld id="{8368060C-F3A5-4600-9262-589A0797613D}" type="datetime1">
              <a:rPr lang="en-IN" smtClean="0"/>
              <a:pPr/>
              <a:t>02/10/26</a:t>
            </a:fld>
            <a:endParaRPr lang="en-US" dirty="0"/>
          </a:p>
        </p:txBody>
      </p:sp>
      <p:sp>
        <p:nvSpPr>
          <p:cNvPr id="3" name="Footer Placeholder 2">
            <a:extLst>
              <a:ext uri="{FF2B5EF4-FFF2-40B4-BE49-F238E27FC236}">
                <a16:creationId xmlns:a16="http://schemas.microsoft.com/office/drawing/2014/main" id="{103B589E-22FA-7C67-86C6-030784051516}"/>
              </a:ext>
            </a:extLst>
          </p:cNvPr>
          <p:cNvSpPr>
            <a:spLocks noGrp="1"/>
          </p:cNvSpPr>
          <p:nvPr>
            <p:ph type="ftr" sz="quarter" idx="12"/>
          </p:nvPr>
        </p:nvSpPr>
        <p:spPr/>
        <p:txBody>
          <a:bodyPr/>
          <a:lstStyle/>
          <a:p>
            <a:r>
              <a:rPr lang="en-US"/>
              <a:t>Data Science                                                                K Vydehi, Asst Professor, CSE Dept.</a:t>
            </a:r>
            <a:endParaRPr lang="en-US" dirty="0"/>
          </a:p>
        </p:txBody>
      </p:sp>
      <p:sp>
        <p:nvSpPr>
          <p:cNvPr id="4" name="Slide Number Placeholder 3">
            <a:extLst>
              <a:ext uri="{FF2B5EF4-FFF2-40B4-BE49-F238E27FC236}">
                <a16:creationId xmlns:a16="http://schemas.microsoft.com/office/drawing/2014/main" id="{DD699503-2F2C-D9BD-417D-6F8CE2AA9A38}"/>
              </a:ext>
            </a:extLst>
          </p:cNvPr>
          <p:cNvSpPr>
            <a:spLocks noGrp="1"/>
          </p:cNvSpPr>
          <p:nvPr>
            <p:ph type="sldNum" sz="quarter" idx="13"/>
          </p:nvPr>
        </p:nvSpPr>
        <p:spPr/>
        <p:txBody>
          <a:bodyPr/>
          <a:lstStyle/>
          <a:p>
            <a:fld id="{326EF2E3-409D-4D76-AD02-397A36B0DAF9}" type="slidenum">
              <a:rPr lang="en-US" smtClean="0"/>
              <a:pPr/>
              <a:t>6</a:t>
            </a:fld>
            <a:endParaRPr lang="en-US" dirty="0"/>
          </a:p>
        </p:txBody>
      </p:sp>
      <p:sp>
        <p:nvSpPr>
          <p:cNvPr id="7" name="TextBox 6">
            <a:extLst>
              <a:ext uri="{FF2B5EF4-FFF2-40B4-BE49-F238E27FC236}">
                <a16:creationId xmlns:a16="http://schemas.microsoft.com/office/drawing/2014/main" id="{F7AC80C0-791C-55E8-F1AA-81428B16CC9B}"/>
              </a:ext>
            </a:extLst>
          </p:cNvPr>
          <p:cNvSpPr txBox="1"/>
          <p:nvPr/>
        </p:nvSpPr>
        <p:spPr>
          <a:xfrm>
            <a:off x="4367808" y="332656"/>
            <a:ext cx="5773624" cy="523220"/>
          </a:xfrm>
          <a:prstGeom prst="rect">
            <a:avLst/>
          </a:prstGeom>
          <a:noFill/>
        </p:spPr>
        <p:txBody>
          <a:bodyPr wrap="square" rtlCol="0">
            <a:spAutoFit/>
          </a:bodyPr>
          <a:lstStyle/>
          <a:p>
            <a:r>
              <a:rPr lang="en-IN" sz="2800" b="1" dirty="0">
                <a:solidFill>
                  <a:schemeClr val="accent2">
                    <a:lumMod val="75000"/>
                  </a:schemeClr>
                </a:solidFill>
                <a:latin typeface="ADLaM Display" panose="02010000000000000000" pitchFamily="2" charset="0"/>
                <a:ea typeface="ADLaM Display" panose="02010000000000000000" pitchFamily="2" charset="0"/>
                <a:cs typeface="ADLaM Display" panose="02010000000000000000" pitchFamily="2" charset="0"/>
              </a:rPr>
              <a:t>PROJECT WORK FLOW</a:t>
            </a:r>
          </a:p>
        </p:txBody>
      </p:sp>
      <p:pic>
        <p:nvPicPr>
          <p:cNvPr id="10" name="Picture 9">
            <a:extLst>
              <a:ext uri="{FF2B5EF4-FFF2-40B4-BE49-F238E27FC236}">
                <a16:creationId xmlns:a16="http://schemas.microsoft.com/office/drawing/2014/main" id="{7BF569E9-E39E-F04D-6098-F19688369BC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124744"/>
            <a:ext cx="12192000" cy="5040560"/>
          </a:xfrm>
          <a:prstGeom prst="rect">
            <a:avLst/>
          </a:prstGeom>
        </p:spPr>
      </p:pic>
    </p:spTree>
    <p:extLst>
      <p:ext uri="{BB962C8B-B14F-4D97-AF65-F5344CB8AC3E}">
        <p14:creationId xmlns:p14="http://schemas.microsoft.com/office/powerpoint/2010/main" val="29104607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862E4AC-212E-43EC-956C-B30F3E8CC9D6}"/>
              </a:ext>
            </a:extLst>
          </p:cNvPr>
          <p:cNvSpPr txBox="1"/>
          <p:nvPr/>
        </p:nvSpPr>
        <p:spPr>
          <a:xfrm>
            <a:off x="1025498" y="355303"/>
            <a:ext cx="10561550" cy="954107"/>
          </a:xfrm>
          <a:prstGeom prst="rect">
            <a:avLst/>
          </a:prstGeom>
          <a:noFill/>
        </p:spPr>
        <p:txBody>
          <a:bodyPr wrap="square" rtlCol="0">
            <a:spAutoFit/>
          </a:bodyPr>
          <a:lstStyle/>
          <a:p>
            <a:pPr algn="ctr"/>
            <a:r>
              <a:rPr lang="en-US" sz="2800" b="1" dirty="0">
                <a:solidFill>
                  <a:schemeClr val="accent2">
                    <a:lumMod val="75000"/>
                  </a:schemeClr>
                </a:solidFill>
                <a:latin typeface="ADLaM Display" panose="02010000000000000000" pitchFamily="2" charset="0"/>
                <a:ea typeface="ADLaM Display" panose="02010000000000000000" pitchFamily="2" charset="0"/>
                <a:cs typeface="ADLaM Display" panose="02010000000000000000" pitchFamily="2" charset="0"/>
              </a:rPr>
              <a:t>DATASET SELECTION AND</a:t>
            </a:r>
          </a:p>
          <a:p>
            <a:pPr algn="ctr"/>
            <a:r>
              <a:rPr lang="en-US" sz="2800" b="1" dirty="0">
                <a:solidFill>
                  <a:schemeClr val="accent2">
                    <a:lumMod val="75000"/>
                  </a:schemeClr>
                </a:solidFill>
                <a:latin typeface="ADLaM Display" panose="02010000000000000000" pitchFamily="2" charset="0"/>
                <a:ea typeface="ADLaM Display" panose="02010000000000000000" pitchFamily="2" charset="0"/>
                <a:cs typeface="ADLaM Display" panose="02010000000000000000" pitchFamily="2" charset="0"/>
              </a:rPr>
              <a:t> UNDERSTANDING</a:t>
            </a:r>
            <a:endParaRPr lang="en-US" sz="3200" b="1" dirty="0">
              <a:solidFill>
                <a:schemeClr val="accent2">
                  <a:lumMod val="75000"/>
                </a:schemeClr>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5" name="TextBox 4">
            <a:extLst>
              <a:ext uri="{FF2B5EF4-FFF2-40B4-BE49-F238E27FC236}">
                <a16:creationId xmlns:a16="http://schemas.microsoft.com/office/drawing/2014/main" id="{7FCE3D1F-FE03-C000-DBE7-358E0F77A41D}"/>
              </a:ext>
            </a:extLst>
          </p:cNvPr>
          <p:cNvSpPr txBox="1"/>
          <p:nvPr/>
        </p:nvSpPr>
        <p:spPr>
          <a:xfrm>
            <a:off x="551384" y="2204864"/>
            <a:ext cx="3042776" cy="3693319"/>
          </a:xfrm>
          <a:prstGeom prst="rect">
            <a:avLst/>
          </a:prstGeom>
          <a:noFill/>
        </p:spPr>
        <p:txBody>
          <a:bodyPr wrap="square" rtlCol="0">
            <a:spAutoFit/>
          </a:bodyPr>
          <a:lstStyle/>
          <a:p>
            <a:pPr algn="just"/>
            <a:r>
              <a:rPr lang="en-IN" dirty="0"/>
              <a:t>The dataset is from Kaggle’s ASHRAE competition, organized by the American Society of Heating, Refrigerating and Air-Conditioning Engineers. It contains multiple CSV files with building metadata, weather data, and energy meter readings (electricity, chilled water, hot water, and steam) for predicting building energy consumption.</a:t>
            </a:r>
            <a:endParaRPr lang="en-US" dirty="0"/>
          </a:p>
        </p:txBody>
      </p:sp>
      <p:pic>
        <p:nvPicPr>
          <p:cNvPr id="3" name="Picture 2">
            <a:extLst>
              <a:ext uri="{FF2B5EF4-FFF2-40B4-BE49-F238E27FC236}">
                <a16:creationId xmlns:a16="http://schemas.microsoft.com/office/drawing/2014/main" id="{5F4513AA-7A2F-3ACC-BB73-F5319B788AD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39816" y="1772816"/>
            <a:ext cx="7032104" cy="4824648"/>
          </a:xfrm>
          <a:prstGeom prst="rect">
            <a:avLst/>
          </a:prstGeom>
        </p:spPr>
      </p:pic>
    </p:spTree>
    <p:extLst>
      <p:ext uri="{BB962C8B-B14F-4D97-AF65-F5344CB8AC3E}">
        <p14:creationId xmlns:p14="http://schemas.microsoft.com/office/powerpoint/2010/main" val="9696096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33BBF7-C224-1D94-65D6-D71D273E55E3}"/>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2711EC5-1B4F-4A38-70EE-6EF19D700A29}"/>
              </a:ext>
            </a:extLst>
          </p:cNvPr>
          <p:cNvSpPr txBox="1"/>
          <p:nvPr/>
        </p:nvSpPr>
        <p:spPr>
          <a:xfrm>
            <a:off x="299357" y="2200403"/>
            <a:ext cx="4752528" cy="3139321"/>
          </a:xfrm>
          <a:prstGeom prst="rect">
            <a:avLst/>
          </a:prstGeom>
          <a:noFill/>
        </p:spPr>
        <p:txBody>
          <a:bodyPr wrap="square" rtlCol="0">
            <a:spAutoFit/>
          </a:bodyPr>
          <a:lstStyle/>
          <a:p>
            <a:r>
              <a:rPr lang="en-IN" dirty="0"/>
              <a:t>The dataset includes building, weather, and energy attributes to analyze consumption:</a:t>
            </a:r>
          </a:p>
          <a:p>
            <a:pPr lvl="0"/>
            <a:r>
              <a:rPr lang="en-IN" dirty="0"/>
              <a:t>Building: Building ID, square footage, year built, floor count, and primary use.</a:t>
            </a:r>
          </a:p>
          <a:p>
            <a:pPr lvl="0"/>
            <a:r>
              <a:rPr lang="en-IN" dirty="0"/>
              <a:t>Weather: Temperature, humidity, cloud coverage, wind, pressure, and precipitation.</a:t>
            </a:r>
          </a:p>
          <a:p>
            <a:pPr lvl="0"/>
            <a:r>
              <a:rPr lang="en-IN" dirty="0"/>
              <a:t>Meter: Electricity, chilled water, steam, or hot water.</a:t>
            </a:r>
          </a:p>
          <a:p>
            <a:pPr lvl="0"/>
            <a:r>
              <a:rPr lang="en-IN" dirty="0"/>
              <a:t>Target: meter_reading — actual energy consumption (kWh) predicted by the model.</a:t>
            </a:r>
          </a:p>
          <a:p>
            <a:endParaRPr lang="en-IN" dirty="0"/>
          </a:p>
        </p:txBody>
      </p:sp>
      <p:pic>
        <p:nvPicPr>
          <p:cNvPr id="3" name="Picture 2">
            <a:extLst>
              <a:ext uri="{FF2B5EF4-FFF2-40B4-BE49-F238E27FC236}">
                <a16:creationId xmlns:a16="http://schemas.microsoft.com/office/drawing/2014/main" id="{3C3BD0CA-668F-1F53-D54A-221AE773B4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87888" y="1210609"/>
            <a:ext cx="2268252" cy="2218391"/>
          </a:xfrm>
          <a:prstGeom prst="rect">
            <a:avLst/>
          </a:prstGeom>
          <a:ln>
            <a:solidFill>
              <a:schemeClr val="accent2">
                <a:lumMod val="75000"/>
              </a:schemeClr>
            </a:solidFill>
          </a:ln>
          <a:effectLst>
            <a:outerShdw blurRad="50800" dist="38100" dir="5400000" algn="t" rotWithShape="0">
              <a:prstClr val="black">
                <a:alpha val="40000"/>
              </a:prstClr>
            </a:outerShdw>
          </a:effectLst>
        </p:spPr>
      </p:pic>
      <p:pic>
        <p:nvPicPr>
          <p:cNvPr id="7" name="Picture 6">
            <a:extLst>
              <a:ext uri="{FF2B5EF4-FFF2-40B4-BE49-F238E27FC236}">
                <a16:creationId xmlns:a16="http://schemas.microsoft.com/office/drawing/2014/main" id="{EC70A956-D7D4-2391-E754-AC878EF550E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52184" y="1210609"/>
            <a:ext cx="4258435" cy="2223127"/>
          </a:xfrm>
          <a:prstGeom prst="rect">
            <a:avLst/>
          </a:prstGeom>
          <a:ln>
            <a:solidFill>
              <a:schemeClr val="accent2">
                <a:lumMod val="75000"/>
              </a:schemeClr>
            </a:solidFill>
          </a:ln>
          <a:effectLst>
            <a:outerShdw blurRad="50800" dist="38100" dir="5400000" algn="t" rotWithShape="0">
              <a:prstClr val="black">
                <a:alpha val="40000"/>
              </a:prstClr>
            </a:outerShdw>
          </a:effectLst>
        </p:spPr>
      </p:pic>
      <p:pic>
        <p:nvPicPr>
          <p:cNvPr id="9" name="Picture 8">
            <a:extLst>
              <a:ext uri="{FF2B5EF4-FFF2-40B4-BE49-F238E27FC236}">
                <a16:creationId xmlns:a16="http://schemas.microsoft.com/office/drawing/2014/main" id="{AFED696B-06E5-4E7A-FDD5-2B982AA1144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0" y="3770064"/>
            <a:ext cx="5397785" cy="2476228"/>
          </a:xfrm>
          <a:prstGeom prst="rect">
            <a:avLst/>
          </a:prstGeom>
          <a:ln>
            <a:solidFill>
              <a:schemeClr val="accent2">
                <a:lumMod val="75000"/>
              </a:schemeClr>
            </a:solidFill>
          </a:ln>
          <a:effectLst>
            <a:outerShdw blurRad="50800" dist="38100" dir="5400000" algn="t" rotWithShape="0">
              <a:prstClr val="black">
                <a:alpha val="40000"/>
              </a:prstClr>
            </a:outerShdw>
          </a:effectLst>
        </p:spPr>
      </p:pic>
      <p:sp>
        <p:nvSpPr>
          <p:cNvPr id="4" name="TextBox 3">
            <a:extLst>
              <a:ext uri="{FF2B5EF4-FFF2-40B4-BE49-F238E27FC236}">
                <a16:creationId xmlns:a16="http://schemas.microsoft.com/office/drawing/2014/main" id="{CC7BB760-8198-7547-5B21-05ABA6E22499}"/>
              </a:ext>
            </a:extLst>
          </p:cNvPr>
          <p:cNvSpPr txBox="1"/>
          <p:nvPr/>
        </p:nvSpPr>
        <p:spPr>
          <a:xfrm>
            <a:off x="2989326" y="404664"/>
            <a:ext cx="6213348" cy="523220"/>
          </a:xfrm>
          <a:prstGeom prst="rect">
            <a:avLst/>
          </a:prstGeom>
          <a:noFill/>
        </p:spPr>
        <p:txBody>
          <a:bodyPr wrap="square">
            <a:spAutoFit/>
          </a:bodyPr>
          <a:lstStyle/>
          <a:p>
            <a:pPr algn="ctr"/>
            <a:r>
              <a:rPr lang="en-US" sz="2800" b="1" dirty="0">
                <a:solidFill>
                  <a:schemeClr val="accent2">
                    <a:lumMod val="75000"/>
                  </a:schemeClr>
                </a:solidFill>
                <a:latin typeface="ADLaM Display" panose="02010000000000000000" pitchFamily="2" charset="0"/>
                <a:ea typeface="ADLaM Display" panose="02010000000000000000" pitchFamily="2" charset="0"/>
                <a:cs typeface="ADLaM Display" panose="02010000000000000000" pitchFamily="2" charset="0"/>
              </a:rPr>
              <a:t>DATASET INSPECTION</a:t>
            </a:r>
            <a:endParaRPr lang="en-US" sz="3200" b="1" dirty="0">
              <a:solidFill>
                <a:schemeClr val="accent2">
                  <a:lumMod val="75000"/>
                </a:schemeClr>
              </a:solidFill>
              <a:latin typeface="ADLaM Display" panose="02010000000000000000" pitchFamily="2" charset="0"/>
              <a:ea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5510621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1C999-0B08-E869-1775-C1B8DBDFBFB2}"/>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0DEBCEC4-7319-EA14-A623-46C2DA843DC9}"/>
              </a:ext>
            </a:extLst>
          </p:cNvPr>
          <p:cNvSpPr txBox="1"/>
          <p:nvPr/>
        </p:nvSpPr>
        <p:spPr>
          <a:xfrm>
            <a:off x="263352" y="1124744"/>
            <a:ext cx="4464496" cy="6740307"/>
          </a:xfrm>
          <a:prstGeom prst="rect">
            <a:avLst/>
          </a:prstGeom>
          <a:noFill/>
        </p:spPr>
        <p:txBody>
          <a:bodyPr wrap="square" rtlCol="0">
            <a:spAutoFit/>
          </a:bodyPr>
          <a:lstStyle/>
          <a:p>
            <a:r>
              <a:rPr lang="en-IN" b="1" dirty="0"/>
              <a:t>Dataset Import</a:t>
            </a:r>
            <a:br>
              <a:rPr lang="en-IN" dirty="0"/>
            </a:br>
            <a:r>
              <a:rPr lang="en-IN" dirty="0"/>
              <a:t>The ASHRAE dataset was downloaded from Kaggle and imported into a Jupyter Notebook using Python's pandas library (pd.read_csv()). </a:t>
            </a:r>
          </a:p>
          <a:p>
            <a:endParaRPr lang="en-IN" dirty="0"/>
          </a:p>
          <a:p>
            <a:r>
              <a:rPr lang="en-IN" b="1" dirty="0"/>
              <a:t>Libraries and Modules Used</a:t>
            </a:r>
          </a:p>
          <a:p>
            <a:pPr lvl="0"/>
            <a:r>
              <a:rPr lang="en-IN" dirty="0"/>
              <a:t>Pandas: Loads, organizes, and cleans datasets.</a:t>
            </a:r>
          </a:p>
          <a:p>
            <a:pPr lvl="0"/>
            <a:r>
              <a:rPr lang="en-IN" dirty="0"/>
              <a:t>NumPy: Performs numerical calculations.</a:t>
            </a:r>
          </a:p>
          <a:p>
            <a:pPr lvl="0"/>
            <a:r>
              <a:rPr lang="en-IN" dirty="0"/>
              <a:t>Matplotlib &amp; Seaborn: Create graphs, plots, and heatmaps.</a:t>
            </a:r>
          </a:p>
          <a:p>
            <a:pPr lvl="0"/>
            <a:r>
              <a:rPr lang="en-IN" dirty="0"/>
              <a:t>LabelEncoder: Converts categorical data into numbers.</a:t>
            </a:r>
          </a:p>
          <a:p>
            <a:pPr lvl="0"/>
            <a:r>
              <a:rPr lang="en-IN" dirty="0"/>
              <a:t>StandardScaler &amp; RobustScaler: Scale numerical features.</a:t>
            </a:r>
          </a:p>
          <a:p>
            <a:pPr lvl="0"/>
            <a:r>
              <a:rPr lang="en-IN" dirty="0"/>
              <a:t>train_test_split: Splits data into training and testing sets.</a:t>
            </a:r>
          </a:p>
          <a:p>
            <a:pPr lvl="0"/>
            <a:r>
              <a:rPr lang="en-IN" dirty="0"/>
              <a:t>SciPy: Performs statistical analysis.</a:t>
            </a:r>
          </a:p>
          <a:p>
            <a:pPr lvl="0"/>
            <a:r>
              <a:rPr lang="en-IN" dirty="0"/>
              <a:t>OS: Manages file paths and dataset loading.</a:t>
            </a:r>
          </a:p>
          <a:p>
            <a:pPr lvl="0"/>
            <a:r>
              <a:rPr lang="en-IN" dirty="0"/>
              <a:t>Warnings: Hides unnecessary warning messages.</a:t>
            </a:r>
          </a:p>
          <a:p>
            <a:endParaRPr lang="en-IN" dirty="0"/>
          </a:p>
          <a:p>
            <a:endParaRPr lang="en-IN" dirty="0"/>
          </a:p>
          <a:p>
            <a:endParaRPr lang="en-IN" dirty="0"/>
          </a:p>
          <a:p>
            <a:endParaRPr lang="en-IN" dirty="0"/>
          </a:p>
        </p:txBody>
      </p:sp>
      <p:pic>
        <p:nvPicPr>
          <p:cNvPr id="4" name="Picture 3">
            <a:extLst>
              <a:ext uri="{FF2B5EF4-FFF2-40B4-BE49-F238E27FC236}">
                <a16:creationId xmlns:a16="http://schemas.microsoft.com/office/drawing/2014/main" id="{53841D39-4505-0E3D-E5C4-1CC81393D44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63952" y="3645024"/>
            <a:ext cx="5943228" cy="3091886"/>
          </a:xfrm>
          <a:prstGeom prst="rect">
            <a:avLst/>
          </a:prstGeom>
        </p:spPr>
      </p:pic>
      <p:pic>
        <p:nvPicPr>
          <p:cNvPr id="3" name="Picture 2">
            <a:extLst>
              <a:ext uri="{FF2B5EF4-FFF2-40B4-BE49-F238E27FC236}">
                <a16:creationId xmlns:a16="http://schemas.microsoft.com/office/drawing/2014/main" id="{A0077CFA-7773-CA7D-6BA4-21E4D2BAD1C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62024" y="849101"/>
            <a:ext cx="5943228" cy="2783363"/>
          </a:xfrm>
          <a:prstGeom prst="rect">
            <a:avLst/>
          </a:prstGeom>
        </p:spPr>
      </p:pic>
      <p:sp>
        <p:nvSpPr>
          <p:cNvPr id="7" name="TextBox 6">
            <a:extLst>
              <a:ext uri="{FF2B5EF4-FFF2-40B4-BE49-F238E27FC236}">
                <a16:creationId xmlns:a16="http://schemas.microsoft.com/office/drawing/2014/main" id="{F489DB50-0575-3ED8-FEE4-7580927B3A3C}"/>
              </a:ext>
            </a:extLst>
          </p:cNvPr>
          <p:cNvSpPr txBox="1"/>
          <p:nvPr/>
        </p:nvSpPr>
        <p:spPr>
          <a:xfrm>
            <a:off x="2855640" y="319601"/>
            <a:ext cx="6213348" cy="523220"/>
          </a:xfrm>
          <a:prstGeom prst="rect">
            <a:avLst/>
          </a:prstGeom>
          <a:noFill/>
        </p:spPr>
        <p:txBody>
          <a:bodyPr wrap="square">
            <a:spAutoFit/>
          </a:bodyPr>
          <a:lstStyle/>
          <a:p>
            <a:pPr algn="ctr"/>
            <a:r>
              <a:rPr lang="en-US" sz="2800" b="1" dirty="0">
                <a:solidFill>
                  <a:schemeClr val="accent2">
                    <a:lumMod val="75000"/>
                  </a:schemeClr>
                </a:solidFill>
                <a:latin typeface="ADLaM Display" panose="02010000000000000000" pitchFamily="2" charset="0"/>
                <a:ea typeface="ADLaM Display" panose="02010000000000000000" pitchFamily="2" charset="0"/>
                <a:cs typeface="ADLaM Display" panose="02010000000000000000" pitchFamily="2" charset="0"/>
              </a:rPr>
              <a:t>DATA PREPROCESSING</a:t>
            </a:r>
            <a:endParaRPr lang="en-US" sz="3200" b="1" dirty="0">
              <a:solidFill>
                <a:schemeClr val="accent2">
                  <a:lumMod val="75000"/>
                </a:schemeClr>
              </a:solidFill>
              <a:latin typeface="ADLaM Display" panose="02010000000000000000" pitchFamily="2" charset="0"/>
              <a:ea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23056834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A3D2A67-5C04-F19E-BFB0-2BBC6E3C79EE}"/>
              </a:ext>
            </a:extLst>
          </p:cNvPr>
          <p:cNvSpPr txBox="1"/>
          <p:nvPr/>
        </p:nvSpPr>
        <p:spPr>
          <a:xfrm>
            <a:off x="7608168" y="1720840"/>
            <a:ext cx="4104456" cy="3416320"/>
          </a:xfrm>
          <a:prstGeom prst="rect">
            <a:avLst/>
          </a:prstGeom>
          <a:noFill/>
        </p:spPr>
        <p:txBody>
          <a:bodyPr wrap="square" rtlCol="0">
            <a:spAutoFit/>
          </a:bodyPr>
          <a:lstStyle/>
          <a:p>
            <a:r>
              <a:rPr lang="en-IN" b="1" dirty="0"/>
              <a:t>Data Inspection and Missing Value Analysis</a:t>
            </a:r>
          </a:p>
          <a:p>
            <a:r>
              <a:rPr lang="en-IN" dirty="0"/>
              <a:t>The dataset was inspected to identify missing values in building metadata, weather data, and training data. Significant gaps were found in floor_count (75.50%), year_built (53.42%), and cloud_coverage (49.49%). These missing values were addressed through imputation before merging and cleaning the dataset.</a:t>
            </a:r>
          </a:p>
          <a:p>
            <a:endParaRPr lang="en-IN" dirty="0"/>
          </a:p>
        </p:txBody>
      </p:sp>
      <p:pic>
        <p:nvPicPr>
          <p:cNvPr id="4" name="Picture 3">
            <a:extLst>
              <a:ext uri="{FF2B5EF4-FFF2-40B4-BE49-F238E27FC236}">
                <a16:creationId xmlns:a16="http://schemas.microsoft.com/office/drawing/2014/main" id="{7920D9B3-BE79-22BA-F37E-2AD5985C037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5400" y="1340768"/>
            <a:ext cx="5832648" cy="5316860"/>
          </a:xfrm>
          <a:prstGeom prst="rect">
            <a:avLst/>
          </a:prstGeom>
        </p:spPr>
      </p:pic>
      <p:sp>
        <p:nvSpPr>
          <p:cNvPr id="3" name="TextBox 2">
            <a:extLst>
              <a:ext uri="{FF2B5EF4-FFF2-40B4-BE49-F238E27FC236}">
                <a16:creationId xmlns:a16="http://schemas.microsoft.com/office/drawing/2014/main" id="{722188A3-9DE5-06AB-8D14-F7246CDB24C8}"/>
              </a:ext>
            </a:extLst>
          </p:cNvPr>
          <p:cNvSpPr txBox="1"/>
          <p:nvPr/>
        </p:nvSpPr>
        <p:spPr>
          <a:xfrm>
            <a:off x="2999656" y="540549"/>
            <a:ext cx="7056784" cy="800219"/>
          </a:xfrm>
          <a:prstGeom prst="rect">
            <a:avLst/>
          </a:prstGeom>
          <a:noFill/>
        </p:spPr>
        <p:txBody>
          <a:bodyPr wrap="square" rtlCol="0">
            <a:spAutoFit/>
          </a:bodyPr>
          <a:lstStyle/>
          <a:p>
            <a:pPr algn="ctr"/>
            <a:r>
              <a:rPr lang="en-US" sz="2800" b="1" dirty="0">
                <a:solidFill>
                  <a:schemeClr val="accent2">
                    <a:lumMod val="75000"/>
                  </a:schemeClr>
                </a:solidFill>
                <a:latin typeface="ADLaM Display" panose="02010000000000000000" pitchFamily="2" charset="0"/>
                <a:ea typeface="ADLaM Display" panose="02010000000000000000" pitchFamily="2" charset="0"/>
                <a:cs typeface="ADLaM Display" panose="02010000000000000000" pitchFamily="2" charset="0"/>
              </a:rPr>
              <a:t>MISSING VALUES HANDLING</a:t>
            </a:r>
          </a:p>
          <a:p>
            <a:endParaRPr lang="en-IN" dirty="0"/>
          </a:p>
        </p:txBody>
      </p:sp>
    </p:spTree>
    <p:extLst>
      <p:ext uri="{BB962C8B-B14F-4D97-AF65-F5344CB8AC3E}">
        <p14:creationId xmlns:p14="http://schemas.microsoft.com/office/powerpoint/2010/main" val="42101086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A421889-BF6E-19BF-776A-A6CFC27AB6DB}"/>
              </a:ext>
            </a:extLst>
          </p:cNvPr>
          <p:cNvSpPr>
            <a:spLocks noGrp="1"/>
          </p:cNvSpPr>
          <p:nvPr>
            <p:ph type="dt" sz="half" idx="11"/>
          </p:nvPr>
        </p:nvSpPr>
        <p:spPr/>
        <p:txBody>
          <a:bodyPr/>
          <a:lstStyle/>
          <a:p>
            <a:fld id="{8368060C-F3A5-4600-9262-589A0797613D}" type="datetime1">
              <a:rPr lang="en-IN" smtClean="0"/>
              <a:pPr/>
              <a:t>02/10/26</a:t>
            </a:fld>
            <a:endParaRPr lang="en-US" dirty="0"/>
          </a:p>
        </p:txBody>
      </p:sp>
      <p:sp>
        <p:nvSpPr>
          <p:cNvPr id="3" name="Footer Placeholder 2">
            <a:extLst>
              <a:ext uri="{FF2B5EF4-FFF2-40B4-BE49-F238E27FC236}">
                <a16:creationId xmlns:a16="http://schemas.microsoft.com/office/drawing/2014/main" id="{C7D24F8B-D480-3AD0-C6F7-D2E7CC09B6E0}"/>
              </a:ext>
            </a:extLst>
          </p:cNvPr>
          <p:cNvSpPr>
            <a:spLocks noGrp="1"/>
          </p:cNvSpPr>
          <p:nvPr>
            <p:ph type="ftr" sz="quarter" idx="12"/>
          </p:nvPr>
        </p:nvSpPr>
        <p:spPr/>
        <p:txBody>
          <a:bodyPr/>
          <a:lstStyle/>
          <a:p>
            <a:r>
              <a:rPr lang="en-US"/>
              <a:t>Data Science                                                                K Vydehi, Asst Professor, CSE Dept.</a:t>
            </a:r>
            <a:endParaRPr lang="en-US" dirty="0"/>
          </a:p>
        </p:txBody>
      </p:sp>
      <p:sp>
        <p:nvSpPr>
          <p:cNvPr id="4" name="Slide Number Placeholder 3">
            <a:extLst>
              <a:ext uri="{FF2B5EF4-FFF2-40B4-BE49-F238E27FC236}">
                <a16:creationId xmlns:a16="http://schemas.microsoft.com/office/drawing/2014/main" id="{7D0F029E-CA1E-573A-22D0-143F6BAE8941}"/>
              </a:ext>
            </a:extLst>
          </p:cNvPr>
          <p:cNvSpPr>
            <a:spLocks noGrp="1"/>
          </p:cNvSpPr>
          <p:nvPr>
            <p:ph type="sldNum" sz="quarter" idx="13"/>
          </p:nvPr>
        </p:nvSpPr>
        <p:spPr/>
        <p:txBody>
          <a:bodyPr/>
          <a:lstStyle/>
          <a:p>
            <a:fld id="{326EF2E3-409D-4D76-AD02-397A36B0DAF9}" type="slidenum">
              <a:rPr lang="en-US" smtClean="0"/>
              <a:pPr/>
              <a:t>11</a:t>
            </a:fld>
            <a:endParaRPr lang="en-US" dirty="0"/>
          </a:p>
        </p:txBody>
      </p:sp>
      <p:pic>
        <p:nvPicPr>
          <p:cNvPr id="8" name="Picture 7">
            <a:extLst>
              <a:ext uri="{FF2B5EF4-FFF2-40B4-BE49-F238E27FC236}">
                <a16:creationId xmlns:a16="http://schemas.microsoft.com/office/drawing/2014/main" id="{01B2B359-428F-9DC5-4FDE-26D39BC3F0E6}"/>
              </a:ext>
            </a:extLst>
          </p:cNvPr>
          <p:cNvPicPr>
            <a:picLocks noChangeAspect="1"/>
          </p:cNvPicPr>
          <p:nvPr/>
        </p:nvPicPr>
        <p:blipFill>
          <a:blip r:embed="rId2"/>
          <a:stretch>
            <a:fillRect/>
          </a:stretch>
        </p:blipFill>
        <p:spPr>
          <a:xfrm>
            <a:off x="911424" y="1304572"/>
            <a:ext cx="4896544" cy="2505856"/>
          </a:xfrm>
          <a:prstGeom prst="rect">
            <a:avLst/>
          </a:prstGeom>
        </p:spPr>
      </p:pic>
      <p:pic>
        <p:nvPicPr>
          <p:cNvPr id="7" name="Picture 6">
            <a:extLst>
              <a:ext uri="{FF2B5EF4-FFF2-40B4-BE49-F238E27FC236}">
                <a16:creationId xmlns:a16="http://schemas.microsoft.com/office/drawing/2014/main" id="{81C166F0-0ED9-232A-638B-D8027A380AC4}"/>
              </a:ext>
            </a:extLst>
          </p:cNvPr>
          <p:cNvPicPr>
            <a:picLocks noChangeAspect="1"/>
          </p:cNvPicPr>
          <p:nvPr/>
        </p:nvPicPr>
        <p:blipFill>
          <a:blip r:embed="rId3"/>
          <a:stretch>
            <a:fillRect/>
          </a:stretch>
        </p:blipFill>
        <p:spPr>
          <a:xfrm>
            <a:off x="6600056" y="1304572"/>
            <a:ext cx="5256584" cy="4486275"/>
          </a:xfrm>
          <a:prstGeom prst="rect">
            <a:avLst/>
          </a:prstGeom>
        </p:spPr>
      </p:pic>
      <p:sp>
        <p:nvSpPr>
          <p:cNvPr id="6" name="TextBox 5">
            <a:extLst>
              <a:ext uri="{FF2B5EF4-FFF2-40B4-BE49-F238E27FC236}">
                <a16:creationId xmlns:a16="http://schemas.microsoft.com/office/drawing/2014/main" id="{370BA244-B8C5-54F3-AD1B-7A31F9DD0B4B}"/>
              </a:ext>
            </a:extLst>
          </p:cNvPr>
          <p:cNvSpPr txBox="1"/>
          <p:nvPr/>
        </p:nvSpPr>
        <p:spPr>
          <a:xfrm>
            <a:off x="3071664" y="504353"/>
            <a:ext cx="6213348" cy="800219"/>
          </a:xfrm>
          <a:prstGeom prst="rect">
            <a:avLst/>
          </a:prstGeom>
          <a:noFill/>
        </p:spPr>
        <p:txBody>
          <a:bodyPr wrap="square">
            <a:spAutoFit/>
          </a:bodyPr>
          <a:lstStyle/>
          <a:p>
            <a:pPr algn="ctr"/>
            <a:r>
              <a:rPr lang="en-US" sz="2800" b="1" dirty="0">
                <a:solidFill>
                  <a:schemeClr val="accent2">
                    <a:lumMod val="75000"/>
                  </a:schemeClr>
                </a:solidFill>
                <a:latin typeface="ADLaM Display" panose="02010000000000000000" pitchFamily="2" charset="0"/>
                <a:ea typeface="ADLaM Display" panose="02010000000000000000" pitchFamily="2" charset="0"/>
                <a:cs typeface="ADLaM Display" panose="02010000000000000000" pitchFamily="2" charset="0"/>
              </a:rPr>
              <a:t>MISSING VALUES HANDLING</a:t>
            </a:r>
          </a:p>
          <a:p>
            <a:endParaRPr lang="en-IN" sz="1800" dirty="0"/>
          </a:p>
        </p:txBody>
      </p:sp>
      <p:sp>
        <p:nvSpPr>
          <p:cNvPr id="9" name="TextBox 8">
            <a:extLst>
              <a:ext uri="{FF2B5EF4-FFF2-40B4-BE49-F238E27FC236}">
                <a16:creationId xmlns:a16="http://schemas.microsoft.com/office/drawing/2014/main" id="{758D5F41-448C-B76E-974F-FE32E5E39BFA}"/>
              </a:ext>
            </a:extLst>
          </p:cNvPr>
          <p:cNvSpPr txBox="1"/>
          <p:nvPr/>
        </p:nvSpPr>
        <p:spPr>
          <a:xfrm>
            <a:off x="839416" y="4094198"/>
            <a:ext cx="5304812" cy="1754326"/>
          </a:xfrm>
          <a:prstGeom prst="rect">
            <a:avLst/>
          </a:prstGeom>
          <a:noFill/>
        </p:spPr>
        <p:txBody>
          <a:bodyPr wrap="square" rtlCol="0">
            <a:spAutoFit/>
          </a:bodyPr>
          <a:lstStyle/>
          <a:p>
            <a:r>
              <a:rPr lang="en-IN" dirty="0"/>
              <a:t>Missing values in year_built are replaced with the median, while floor_count is filled with 1. Weather data is imputed using site-wise forward and backward filling, followed by median imputation for remaining gaps. Other numerical features are also filled using their median values.</a:t>
            </a:r>
          </a:p>
        </p:txBody>
      </p:sp>
    </p:spTree>
    <p:extLst>
      <p:ext uri="{BB962C8B-B14F-4D97-AF65-F5344CB8AC3E}">
        <p14:creationId xmlns:p14="http://schemas.microsoft.com/office/powerpoint/2010/main" val="35975048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81F0F1-7FBA-1C53-EF89-6818814E67CE}"/>
            </a:ext>
          </a:extLst>
        </p:cNvPr>
        <p:cNvGrpSpPr/>
        <p:nvPr/>
      </p:nvGrpSpPr>
      <p:grpSpPr>
        <a:xfrm>
          <a:off x="0" y="0"/>
          <a:ext cx="0" cy="0"/>
          <a:chOff x="0" y="0"/>
          <a:chExt cx="0" cy="0"/>
        </a:xfrm>
      </p:grpSpPr>
      <p:sp>
        <p:nvSpPr>
          <p:cNvPr id="2" name="Date Placeholder 1">
            <a:extLst>
              <a:ext uri="{FF2B5EF4-FFF2-40B4-BE49-F238E27FC236}">
                <a16:creationId xmlns:a16="http://schemas.microsoft.com/office/drawing/2014/main" id="{2E11453B-0601-6607-6476-C2B95C313431}"/>
              </a:ext>
            </a:extLst>
          </p:cNvPr>
          <p:cNvSpPr>
            <a:spLocks noGrp="1"/>
          </p:cNvSpPr>
          <p:nvPr>
            <p:ph type="dt" sz="half" idx="11"/>
          </p:nvPr>
        </p:nvSpPr>
        <p:spPr/>
        <p:txBody>
          <a:bodyPr/>
          <a:lstStyle/>
          <a:p>
            <a:fld id="{8368060C-F3A5-4600-9262-589A0797613D}" type="datetime1">
              <a:rPr lang="en-IN" smtClean="0"/>
              <a:pPr/>
              <a:t>02/10/26</a:t>
            </a:fld>
            <a:endParaRPr lang="en-US" dirty="0"/>
          </a:p>
        </p:txBody>
      </p:sp>
      <p:sp>
        <p:nvSpPr>
          <p:cNvPr id="3" name="Footer Placeholder 2">
            <a:extLst>
              <a:ext uri="{FF2B5EF4-FFF2-40B4-BE49-F238E27FC236}">
                <a16:creationId xmlns:a16="http://schemas.microsoft.com/office/drawing/2014/main" id="{731A1329-5594-4B95-B817-2655B0A045B0}"/>
              </a:ext>
            </a:extLst>
          </p:cNvPr>
          <p:cNvSpPr>
            <a:spLocks noGrp="1"/>
          </p:cNvSpPr>
          <p:nvPr>
            <p:ph type="ftr" sz="quarter" idx="12"/>
          </p:nvPr>
        </p:nvSpPr>
        <p:spPr/>
        <p:txBody>
          <a:bodyPr/>
          <a:lstStyle/>
          <a:p>
            <a:r>
              <a:rPr lang="en-US"/>
              <a:t>Data Science                                                                K Vydehi, Asst Professor, CSE Dept.</a:t>
            </a:r>
            <a:endParaRPr lang="en-US" dirty="0"/>
          </a:p>
        </p:txBody>
      </p:sp>
      <p:sp>
        <p:nvSpPr>
          <p:cNvPr id="4" name="Slide Number Placeholder 3">
            <a:extLst>
              <a:ext uri="{FF2B5EF4-FFF2-40B4-BE49-F238E27FC236}">
                <a16:creationId xmlns:a16="http://schemas.microsoft.com/office/drawing/2014/main" id="{EAD1CAF9-2620-AD50-5A43-9B0C0F2ECF29}"/>
              </a:ext>
            </a:extLst>
          </p:cNvPr>
          <p:cNvSpPr>
            <a:spLocks noGrp="1"/>
          </p:cNvSpPr>
          <p:nvPr>
            <p:ph type="sldNum" sz="quarter" idx="13"/>
          </p:nvPr>
        </p:nvSpPr>
        <p:spPr/>
        <p:txBody>
          <a:bodyPr/>
          <a:lstStyle/>
          <a:p>
            <a:fld id="{326EF2E3-409D-4D76-AD02-397A36B0DAF9}" type="slidenum">
              <a:rPr lang="en-US" smtClean="0"/>
              <a:pPr/>
              <a:t>12</a:t>
            </a:fld>
            <a:endParaRPr lang="en-US" dirty="0"/>
          </a:p>
        </p:txBody>
      </p:sp>
      <p:pic>
        <p:nvPicPr>
          <p:cNvPr id="6" name="Picture 5">
            <a:extLst>
              <a:ext uri="{FF2B5EF4-FFF2-40B4-BE49-F238E27FC236}">
                <a16:creationId xmlns:a16="http://schemas.microsoft.com/office/drawing/2014/main" id="{CD01628C-339A-6FE5-2DCA-563EC99A66DC}"/>
              </a:ext>
            </a:extLst>
          </p:cNvPr>
          <p:cNvPicPr>
            <a:picLocks noChangeAspect="1"/>
          </p:cNvPicPr>
          <p:nvPr/>
        </p:nvPicPr>
        <p:blipFill>
          <a:blip r:embed="rId2"/>
          <a:stretch>
            <a:fillRect/>
          </a:stretch>
        </p:blipFill>
        <p:spPr>
          <a:xfrm>
            <a:off x="2425248" y="2327369"/>
            <a:ext cx="7197487" cy="3456145"/>
          </a:xfrm>
          <a:prstGeom prst="rect">
            <a:avLst/>
          </a:prstGeom>
        </p:spPr>
      </p:pic>
      <p:sp>
        <p:nvSpPr>
          <p:cNvPr id="5" name="TextBox 4">
            <a:extLst>
              <a:ext uri="{FF2B5EF4-FFF2-40B4-BE49-F238E27FC236}">
                <a16:creationId xmlns:a16="http://schemas.microsoft.com/office/drawing/2014/main" id="{FAB8B9A7-B634-7848-91CE-8DECAD19FE89}"/>
              </a:ext>
            </a:extLst>
          </p:cNvPr>
          <p:cNvSpPr txBox="1"/>
          <p:nvPr/>
        </p:nvSpPr>
        <p:spPr>
          <a:xfrm>
            <a:off x="668452" y="1124744"/>
            <a:ext cx="11044172" cy="1200329"/>
          </a:xfrm>
          <a:prstGeom prst="rect">
            <a:avLst/>
          </a:prstGeom>
          <a:noFill/>
        </p:spPr>
        <p:txBody>
          <a:bodyPr wrap="square" rtlCol="0">
            <a:spAutoFit/>
          </a:bodyPr>
          <a:lstStyle/>
          <a:p>
            <a:r>
              <a:rPr lang="en-IN" b="1" dirty="0"/>
              <a:t>Outlier Detection and Treatment</a:t>
            </a:r>
          </a:p>
          <a:p>
            <a:r>
              <a:rPr lang="en-IN" dirty="0"/>
              <a:t>Outliers in total energy consumption are identified using the IQR method (1.5 × IQR). A total of 580 outliers (13.44%) are detected and capped using lower and upper bounds to reduce their impact on analysis and modeling.</a:t>
            </a:r>
          </a:p>
          <a:p>
            <a:endParaRPr lang="en-IN" dirty="0"/>
          </a:p>
        </p:txBody>
      </p:sp>
      <p:sp>
        <p:nvSpPr>
          <p:cNvPr id="9" name="TextBox 8">
            <a:extLst>
              <a:ext uri="{FF2B5EF4-FFF2-40B4-BE49-F238E27FC236}">
                <a16:creationId xmlns:a16="http://schemas.microsoft.com/office/drawing/2014/main" id="{9C8664E8-6FBA-6800-3A77-4CC51B3F8580}"/>
              </a:ext>
            </a:extLst>
          </p:cNvPr>
          <p:cNvSpPr txBox="1"/>
          <p:nvPr/>
        </p:nvSpPr>
        <p:spPr>
          <a:xfrm>
            <a:off x="6526454" y="986244"/>
            <a:ext cx="5328592" cy="646331"/>
          </a:xfrm>
          <a:prstGeom prst="rect">
            <a:avLst/>
          </a:prstGeom>
          <a:noFill/>
        </p:spPr>
        <p:txBody>
          <a:bodyPr wrap="square" rtlCol="0">
            <a:spAutoFit/>
          </a:bodyPr>
          <a:lstStyle/>
          <a:p>
            <a:endParaRPr lang="en-IN" dirty="0"/>
          </a:p>
          <a:p>
            <a:endParaRPr lang="en-IN" dirty="0"/>
          </a:p>
        </p:txBody>
      </p:sp>
      <p:sp>
        <p:nvSpPr>
          <p:cNvPr id="11" name="TextBox 10">
            <a:extLst>
              <a:ext uri="{FF2B5EF4-FFF2-40B4-BE49-F238E27FC236}">
                <a16:creationId xmlns:a16="http://schemas.microsoft.com/office/drawing/2014/main" id="{E22C6D55-D431-11BA-482F-A39C486DABB6}"/>
              </a:ext>
            </a:extLst>
          </p:cNvPr>
          <p:cNvSpPr txBox="1"/>
          <p:nvPr/>
        </p:nvSpPr>
        <p:spPr>
          <a:xfrm>
            <a:off x="3130197" y="362649"/>
            <a:ext cx="6803162" cy="523220"/>
          </a:xfrm>
          <a:prstGeom prst="rect">
            <a:avLst/>
          </a:prstGeom>
          <a:noFill/>
        </p:spPr>
        <p:txBody>
          <a:bodyPr wrap="square" rtlCol="0">
            <a:spAutoFit/>
          </a:bodyPr>
          <a:lstStyle/>
          <a:p>
            <a:r>
              <a:rPr lang="en-IN" sz="2800" b="1" dirty="0">
                <a:solidFill>
                  <a:schemeClr val="accent2">
                    <a:lumMod val="75000"/>
                  </a:schemeClr>
                </a:solidFill>
                <a:latin typeface="ADLaM Display" panose="02010000000000000000" pitchFamily="2" charset="0"/>
                <a:ea typeface="ADLaM Display" panose="02010000000000000000" pitchFamily="2" charset="0"/>
                <a:cs typeface="ADLaM Display" panose="02010000000000000000" pitchFamily="2" charset="0"/>
              </a:rPr>
              <a:t>OUTLIERS DETECTION AND HANDLING</a:t>
            </a:r>
          </a:p>
        </p:txBody>
      </p:sp>
    </p:spTree>
    <p:extLst>
      <p:ext uri="{BB962C8B-B14F-4D97-AF65-F5344CB8AC3E}">
        <p14:creationId xmlns:p14="http://schemas.microsoft.com/office/powerpoint/2010/main" val="563149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811596F-C781-AFC9-CAB9-47733F443850}"/>
              </a:ext>
            </a:extLst>
          </p:cNvPr>
          <p:cNvSpPr>
            <a:spLocks noGrp="1"/>
          </p:cNvSpPr>
          <p:nvPr>
            <p:ph type="dt" sz="half" idx="11"/>
          </p:nvPr>
        </p:nvSpPr>
        <p:spPr/>
        <p:txBody>
          <a:bodyPr/>
          <a:lstStyle/>
          <a:p>
            <a:fld id="{8368060C-F3A5-4600-9262-589A0797613D}" type="datetime1">
              <a:rPr lang="en-IN" smtClean="0"/>
              <a:pPr/>
              <a:t>02/10/26</a:t>
            </a:fld>
            <a:endParaRPr lang="en-US" dirty="0"/>
          </a:p>
        </p:txBody>
      </p:sp>
      <p:sp>
        <p:nvSpPr>
          <p:cNvPr id="3" name="Footer Placeholder 2">
            <a:extLst>
              <a:ext uri="{FF2B5EF4-FFF2-40B4-BE49-F238E27FC236}">
                <a16:creationId xmlns:a16="http://schemas.microsoft.com/office/drawing/2014/main" id="{6CC79A41-D563-44C0-523C-7FFDEDA6E0DE}"/>
              </a:ext>
            </a:extLst>
          </p:cNvPr>
          <p:cNvSpPr>
            <a:spLocks noGrp="1"/>
          </p:cNvSpPr>
          <p:nvPr>
            <p:ph type="ftr" sz="quarter" idx="12"/>
          </p:nvPr>
        </p:nvSpPr>
        <p:spPr/>
        <p:txBody>
          <a:bodyPr/>
          <a:lstStyle/>
          <a:p>
            <a:r>
              <a:rPr lang="en-US"/>
              <a:t>Data Science                                                                K Vydehi, Asst Professor, CSE Dept.</a:t>
            </a:r>
            <a:endParaRPr lang="en-US" dirty="0"/>
          </a:p>
        </p:txBody>
      </p:sp>
      <p:sp>
        <p:nvSpPr>
          <p:cNvPr id="4" name="Slide Number Placeholder 3">
            <a:extLst>
              <a:ext uri="{FF2B5EF4-FFF2-40B4-BE49-F238E27FC236}">
                <a16:creationId xmlns:a16="http://schemas.microsoft.com/office/drawing/2014/main" id="{51EB390E-9DAB-5C2A-681A-438657006181}"/>
              </a:ext>
            </a:extLst>
          </p:cNvPr>
          <p:cNvSpPr>
            <a:spLocks noGrp="1"/>
          </p:cNvSpPr>
          <p:nvPr>
            <p:ph type="sldNum" sz="quarter" idx="13"/>
          </p:nvPr>
        </p:nvSpPr>
        <p:spPr/>
        <p:txBody>
          <a:bodyPr/>
          <a:lstStyle/>
          <a:p>
            <a:fld id="{326EF2E3-409D-4D76-AD02-397A36B0DAF9}" type="slidenum">
              <a:rPr lang="en-US" smtClean="0"/>
              <a:pPr/>
              <a:t>13</a:t>
            </a:fld>
            <a:endParaRPr lang="en-US" dirty="0"/>
          </a:p>
        </p:txBody>
      </p:sp>
      <p:sp>
        <p:nvSpPr>
          <p:cNvPr id="5" name="TextBox 4">
            <a:extLst>
              <a:ext uri="{FF2B5EF4-FFF2-40B4-BE49-F238E27FC236}">
                <a16:creationId xmlns:a16="http://schemas.microsoft.com/office/drawing/2014/main" id="{13A63782-9B9E-8864-EC70-EB296A8C656C}"/>
              </a:ext>
            </a:extLst>
          </p:cNvPr>
          <p:cNvSpPr txBox="1"/>
          <p:nvPr/>
        </p:nvSpPr>
        <p:spPr>
          <a:xfrm>
            <a:off x="573914" y="1361985"/>
            <a:ext cx="11044172" cy="1754326"/>
          </a:xfrm>
          <a:prstGeom prst="rect">
            <a:avLst/>
          </a:prstGeom>
          <a:noFill/>
        </p:spPr>
        <p:txBody>
          <a:bodyPr wrap="square" rtlCol="0">
            <a:spAutoFit/>
          </a:bodyPr>
          <a:lstStyle/>
          <a:p>
            <a:pPr marL="285750" indent="-285750">
              <a:buFont typeface="Arial" panose="020B0604020202020204" pitchFamily="34" charset="0"/>
              <a:buChar char="•"/>
            </a:pPr>
            <a:r>
              <a:rPr lang="en-IN" dirty="0"/>
              <a:t>LabelEncoder converts text-based building usages into integers, while pd.get_dummies creates binary columns for meter types.</a:t>
            </a:r>
          </a:p>
          <a:p>
            <a:pPr marL="285750" indent="-285750">
              <a:buFont typeface="Arial" panose="020B0604020202020204" pitchFamily="34" charset="0"/>
              <a:buChar char="•"/>
            </a:pPr>
            <a:r>
              <a:rPr lang="en-IN" dirty="0"/>
              <a:t>Continuous numerical variables—such as square footage, building age, and temperature—are standardized using StandardScaler to ensure all features share a zero mean and unit variance (Z = (x - mean) / std_dev).</a:t>
            </a:r>
          </a:p>
          <a:p>
            <a:pPr marL="285750" indent="-285750">
              <a:buFont typeface="Arial" panose="020B0604020202020204" pitchFamily="34" charset="0"/>
              <a:buChar char="•"/>
            </a:pPr>
            <a:r>
              <a:rPr lang="en-IN" dirty="0"/>
              <a:t>This combined encoding and scaling step formats all categorical and numerical inputs into a uniform structure ready for model training.</a:t>
            </a:r>
          </a:p>
        </p:txBody>
      </p:sp>
      <p:sp>
        <p:nvSpPr>
          <p:cNvPr id="11" name="TextBox 10">
            <a:extLst>
              <a:ext uri="{FF2B5EF4-FFF2-40B4-BE49-F238E27FC236}">
                <a16:creationId xmlns:a16="http://schemas.microsoft.com/office/drawing/2014/main" id="{7A351FC5-F330-E852-1499-7BEC10AA23FE}"/>
              </a:ext>
            </a:extLst>
          </p:cNvPr>
          <p:cNvSpPr txBox="1"/>
          <p:nvPr/>
        </p:nvSpPr>
        <p:spPr>
          <a:xfrm>
            <a:off x="3863752" y="476672"/>
            <a:ext cx="6803162" cy="523220"/>
          </a:xfrm>
          <a:prstGeom prst="rect">
            <a:avLst/>
          </a:prstGeom>
          <a:noFill/>
        </p:spPr>
        <p:txBody>
          <a:bodyPr wrap="square" rtlCol="0">
            <a:spAutoFit/>
          </a:bodyPr>
          <a:lstStyle/>
          <a:p>
            <a:r>
              <a:rPr lang="en-IN" sz="2800" b="1" dirty="0">
                <a:solidFill>
                  <a:schemeClr val="accent2">
                    <a:lumMod val="75000"/>
                  </a:schemeClr>
                </a:solidFill>
                <a:latin typeface="ADLaM Display" panose="02010000000000000000" pitchFamily="2" charset="0"/>
                <a:ea typeface="ADLaM Display" panose="02010000000000000000" pitchFamily="2" charset="0"/>
                <a:cs typeface="ADLaM Display" panose="02010000000000000000" pitchFamily="2" charset="0"/>
              </a:rPr>
              <a:t>ENCODING AND SCALING</a:t>
            </a:r>
          </a:p>
        </p:txBody>
      </p:sp>
      <p:pic>
        <p:nvPicPr>
          <p:cNvPr id="10" name="Picture 9">
            <a:extLst>
              <a:ext uri="{FF2B5EF4-FFF2-40B4-BE49-F238E27FC236}">
                <a16:creationId xmlns:a16="http://schemas.microsoft.com/office/drawing/2014/main" id="{18E593C7-AB08-A063-D94D-475D531C13B4}"/>
              </a:ext>
            </a:extLst>
          </p:cNvPr>
          <p:cNvPicPr>
            <a:picLocks noChangeAspect="1"/>
          </p:cNvPicPr>
          <p:nvPr/>
        </p:nvPicPr>
        <p:blipFill>
          <a:blip r:embed="rId2"/>
          <a:stretch>
            <a:fillRect/>
          </a:stretch>
        </p:blipFill>
        <p:spPr>
          <a:xfrm>
            <a:off x="2165762" y="3248536"/>
            <a:ext cx="7860476" cy="1011458"/>
          </a:xfrm>
          <a:prstGeom prst="rect">
            <a:avLst/>
          </a:prstGeom>
        </p:spPr>
      </p:pic>
      <p:pic>
        <p:nvPicPr>
          <p:cNvPr id="13" name="Picture 12">
            <a:extLst>
              <a:ext uri="{FF2B5EF4-FFF2-40B4-BE49-F238E27FC236}">
                <a16:creationId xmlns:a16="http://schemas.microsoft.com/office/drawing/2014/main" id="{E9806C71-8BC1-9D14-E8A7-5F3AF2A34204}"/>
              </a:ext>
            </a:extLst>
          </p:cNvPr>
          <p:cNvPicPr>
            <a:picLocks noChangeAspect="1"/>
          </p:cNvPicPr>
          <p:nvPr/>
        </p:nvPicPr>
        <p:blipFill>
          <a:blip r:embed="rId3"/>
          <a:stretch>
            <a:fillRect/>
          </a:stretch>
        </p:blipFill>
        <p:spPr>
          <a:xfrm>
            <a:off x="2165762" y="4509120"/>
            <a:ext cx="7860476" cy="1559329"/>
          </a:xfrm>
          <a:prstGeom prst="rect">
            <a:avLst/>
          </a:prstGeom>
        </p:spPr>
      </p:pic>
    </p:spTree>
    <p:extLst>
      <p:ext uri="{BB962C8B-B14F-4D97-AF65-F5344CB8AC3E}">
        <p14:creationId xmlns:p14="http://schemas.microsoft.com/office/powerpoint/2010/main" val="33647573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4799421-01AF-B1A8-2698-C3A0CA38C50B}"/>
              </a:ext>
            </a:extLst>
          </p:cNvPr>
          <p:cNvSpPr>
            <a:spLocks noGrp="1"/>
          </p:cNvSpPr>
          <p:nvPr>
            <p:ph type="dt" sz="half" idx="11"/>
          </p:nvPr>
        </p:nvSpPr>
        <p:spPr/>
        <p:txBody>
          <a:bodyPr/>
          <a:lstStyle/>
          <a:p>
            <a:fld id="{8368060C-F3A5-4600-9262-589A0797613D}" type="datetime1">
              <a:rPr lang="en-IN" smtClean="0"/>
              <a:pPr/>
              <a:t>02/10/26</a:t>
            </a:fld>
            <a:endParaRPr lang="en-US" dirty="0"/>
          </a:p>
        </p:txBody>
      </p:sp>
      <p:sp>
        <p:nvSpPr>
          <p:cNvPr id="3" name="Footer Placeholder 2">
            <a:extLst>
              <a:ext uri="{FF2B5EF4-FFF2-40B4-BE49-F238E27FC236}">
                <a16:creationId xmlns:a16="http://schemas.microsoft.com/office/drawing/2014/main" id="{8F632AA9-17FD-050B-2F60-8ABDF5251669}"/>
              </a:ext>
            </a:extLst>
          </p:cNvPr>
          <p:cNvSpPr>
            <a:spLocks noGrp="1"/>
          </p:cNvSpPr>
          <p:nvPr>
            <p:ph type="ftr" sz="quarter" idx="12"/>
          </p:nvPr>
        </p:nvSpPr>
        <p:spPr/>
        <p:txBody>
          <a:bodyPr/>
          <a:lstStyle/>
          <a:p>
            <a:r>
              <a:rPr lang="en-US"/>
              <a:t>Data Science                                                                K Vydehi, Asst Professor, CSE Dept.</a:t>
            </a:r>
            <a:endParaRPr lang="en-US" dirty="0"/>
          </a:p>
        </p:txBody>
      </p:sp>
      <p:sp>
        <p:nvSpPr>
          <p:cNvPr id="4" name="Slide Number Placeholder 3">
            <a:extLst>
              <a:ext uri="{FF2B5EF4-FFF2-40B4-BE49-F238E27FC236}">
                <a16:creationId xmlns:a16="http://schemas.microsoft.com/office/drawing/2014/main" id="{165BADD9-656C-A6DF-CBAC-CCBDBCA39ABD}"/>
              </a:ext>
            </a:extLst>
          </p:cNvPr>
          <p:cNvSpPr>
            <a:spLocks noGrp="1"/>
          </p:cNvSpPr>
          <p:nvPr>
            <p:ph type="sldNum" sz="quarter" idx="13"/>
          </p:nvPr>
        </p:nvSpPr>
        <p:spPr/>
        <p:txBody>
          <a:bodyPr/>
          <a:lstStyle/>
          <a:p>
            <a:fld id="{326EF2E3-409D-4D76-AD02-397A36B0DAF9}" type="slidenum">
              <a:rPr lang="en-US" smtClean="0"/>
              <a:pPr/>
              <a:t>14</a:t>
            </a:fld>
            <a:endParaRPr lang="en-US" dirty="0"/>
          </a:p>
        </p:txBody>
      </p:sp>
      <p:sp>
        <p:nvSpPr>
          <p:cNvPr id="5" name="TextBox 4">
            <a:extLst>
              <a:ext uri="{FF2B5EF4-FFF2-40B4-BE49-F238E27FC236}">
                <a16:creationId xmlns:a16="http://schemas.microsoft.com/office/drawing/2014/main" id="{681FE8CB-2188-92A6-DF37-1271A7832C66}"/>
              </a:ext>
            </a:extLst>
          </p:cNvPr>
          <p:cNvSpPr txBox="1"/>
          <p:nvPr/>
        </p:nvSpPr>
        <p:spPr>
          <a:xfrm>
            <a:off x="1098504" y="1196752"/>
            <a:ext cx="9994992" cy="5866350"/>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IN" dirty="0"/>
              <a:t>Data Inspection: Examined building metadata, weather data, and energy consumption records.</a:t>
            </a:r>
          </a:p>
          <a:p>
            <a:pPr marL="285750" indent="-285750">
              <a:lnSpc>
                <a:spcPct val="150000"/>
              </a:lnSpc>
              <a:buFont typeface="Arial" panose="020B0604020202020204" pitchFamily="34" charset="0"/>
              <a:buChar char="•"/>
            </a:pPr>
            <a:r>
              <a:rPr lang="en-IN" dirty="0"/>
              <a:t>Missing Value Detection: Identified missing values in floor_count (75.50%), year_built (53.42%), and cloud_coverage (49.49%).</a:t>
            </a:r>
          </a:p>
          <a:p>
            <a:pPr marL="285750" indent="-285750">
              <a:lnSpc>
                <a:spcPct val="150000"/>
              </a:lnSpc>
              <a:buFont typeface="Arial" panose="020B0604020202020204" pitchFamily="34" charset="0"/>
              <a:buChar char="•"/>
            </a:pPr>
            <a:r>
              <a:rPr lang="en-IN" dirty="0"/>
              <a:t>Missing Value Handling: Used median imputation for numerical features and forward and backward filling for weather data.</a:t>
            </a:r>
          </a:p>
          <a:p>
            <a:pPr marL="285750" indent="-285750">
              <a:lnSpc>
                <a:spcPct val="150000"/>
              </a:lnSpc>
              <a:buFont typeface="Arial" panose="020B0604020202020204" pitchFamily="34" charset="0"/>
              <a:buChar char="•"/>
            </a:pPr>
            <a:r>
              <a:rPr lang="en-IN" dirty="0"/>
              <a:t>Data Cleaning: Cleaned and prepared the datasets for merging and further analysis.</a:t>
            </a:r>
          </a:p>
          <a:p>
            <a:pPr marL="285750" indent="-285750">
              <a:lnSpc>
                <a:spcPct val="150000"/>
              </a:lnSpc>
              <a:buFont typeface="Arial" panose="020B0604020202020204" pitchFamily="34" charset="0"/>
              <a:buChar char="•"/>
            </a:pPr>
            <a:r>
              <a:rPr lang="en-IN" dirty="0"/>
              <a:t>Outlier Detection: Applied the IQR method (1.5 × IQR) to identify extreme energy consumption values.</a:t>
            </a:r>
          </a:p>
          <a:p>
            <a:pPr marL="285750" indent="-285750">
              <a:lnSpc>
                <a:spcPct val="150000"/>
              </a:lnSpc>
              <a:buFont typeface="Arial" panose="020B0604020202020204" pitchFamily="34" charset="0"/>
              <a:buChar char="•"/>
            </a:pPr>
            <a:r>
              <a:rPr lang="en-IN" dirty="0"/>
              <a:t>Outlier Treatment: Detected 580 outliers (13.44%) and capped them using lower and upper bounds.</a:t>
            </a:r>
          </a:p>
          <a:p>
            <a:pPr marL="285750" indent="-285750">
              <a:lnSpc>
                <a:spcPct val="150000"/>
              </a:lnSpc>
              <a:buFont typeface="Arial" panose="020B0604020202020204" pitchFamily="34" charset="0"/>
              <a:buChar char="•"/>
            </a:pPr>
            <a:r>
              <a:rPr lang="en-IN" dirty="0"/>
              <a:t>Categorical Encoding: Converts text labels into numbers using LabelEncoder for building types and one-hot encoding (pd.get_dummies) for meter types.</a:t>
            </a:r>
          </a:p>
          <a:p>
            <a:pPr marL="285750" indent="-285750">
              <a:lnSpc>
                <a:spcPct val="150000"/>
              </a:lnSpc>
              <a:buFont typeface="Arial" panose="020B0604020202020204" pitchFamily="34" charset="0"/>
              <a:buChar char="•"/>
            </a:pPr>
            <a:r>
              <a:rPr lang="en-IN" dirty="0"/>
              <a:t>Feature Scaling: Uses StandardScaler to normalize continuous variables (like square footage and temperature) to a zero mean and unit variance.</a:t>
            </a:r>
          </a:p>
          <a:p>
            <a:pPr marL="285750" indent="-285750">
              <a:lnSpc>
                <a:spcPct val="150000"/>
              </a:lnSpc>
              <a:buFont typeface="Arial" panose="020B0604020202020204" pitchFamily="34" charset="0"/>
              <a:buChar char="•"/>
            </a:pPr>
            <a:endParaRPr lang="en-IN" dirty="0"/>
          </a:p>
          <a:p>
            <a:pPr>
              <a:lnSpc>
                <a:spcPct val="150000"/>
              </a:lnSpc>
            </a:pPr>
            <a:endParaRPr lang="en-IN" dirty="0"/>
          </a:p>
        </p:txBody>
      </p:sp>
      <p:sp>
        <p:nvSpPr>
          <p:cNvPr id="6" name="TextBox 5">
            <a:extLst>
              <a:ext uri="{FF2B5EF4-FFF2-40B4-BE49-F238E27FC236}">
                <a16:creationId xmlns:a16="http://schemas.microsoft.com/office/drawing/2014/main" id="{38DFC0A9-7679-6D6D-F535-E5B5922394F2}"/>
              </a:ext>
            </a:extLst>
          </p:cNvPr>
          <p:cNvSpPr txBox="1"/>
          <p:nvPr/>
        </p:nvSpPr>
        <p:spPr>
          <a:xfrm>
            <a:off x="3791744" y="533683"/>
            <a:ext cx="6408712" cy="523220"/>
          </a:xfrm>
          <a:prstGeom prst="rect">
            <a:avLst/>
          </a:prstGeom>
          <a:noFill/>
        </p:spPr>
        <p:txBody>
          <a:bodyPr wrap="square" rtlCol="0">
            <a:spAutoFit/>
          </a:bodyPr>
          <a:lstStyle/>
          <a:p>
            <a:r>
              <a:rPr lang="en-IN" sz="2800" b="1" dirty="0">
                <a:solidFill>
                  <a:schemeClr val="accent2">
                    <a:lumMod val="75000"/>
                  </a:schemeClr>
                </a:solidFill>
                <a:latin typeface="ADLaM Display" panose="02010000000000000000" pitchFamily="2" charset="0"/>
                <a:ea typeface="ADLaM Display" panose="02010000000000000000" pitchFamily="2" charset="0"/>
                <a:cs typeface="ADLaM Display" panose="02010000000000000000" pitchFamily="2" charset="0"/>
              </a:rPr>
              <a:t>PREPROCESSING SUMMARY</a:t>
            </a:r>
          </a:p>
        </p:txBody>
      </p:sp>
    </p:spTree>
    <p:extLst>
      <p:ext uri="{BB962C8B-B14F-4D97-AF65-F5344CB8AC3E}">
        <p14:creationId xmlns:p14="http://schemas.microsoft.com/office/powerpoint/2010/main" val="193565052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22008FE-ECCC-A0D1-C0BF-9592298D3042}"/>
              </a:ext>
            </a:extLst>
          </p:cNvPr>
          <p:cNvSpPr>
            <a:spLocks noGrp="1"/>
          </p:cNvSpPr>
          <p:nvPr>
            <p:ph type="dt" sz="half" idx="11"/>
          </p:nvPr>
        </p:nvSpPr>
        <p:spPr/>
        <p:txBody>
          <a:bodyPr/>
          <a:lstStyle/>
          <a:p>
            <a:fld id="{8368060C-F3A5-4600-9262-589A0797613D}" type="datetime1">
              <a:rPr lang="en-IN" smtClean="0"/>
              <a:pPr/>
              <a:t>02/10/26</a:t>
            </a:fld>
            <a:endParaRPr lang="en-US" dirty="0"/>
          </a:p>
        </p:txBody>
      </p:sp>
      <p:sp>
        <p:nvSpPr>
          <p:cNvPr id="3" name="Footer Placeholder 2">
            <a:extLst>
              <a:ext uri="{FF2B5EF4-FFF2-40B4-BE49-F238E27FC236}">
                <a16:creationId xmlns:a16="http://schemas.microsoft.com/office/drawing/2014/main" id="{479541D5-CA82-E129-9858-9FFC37B1B0C8}"/>
              </a:ext>
            </a:extLst>
          </p:cNvPr>
          <p:cNvSpPr>
            <a:spLocks noGrp="1"/>
          </p:cNvSpPr>
          <p:nvPr>
            <p:ph type="ftr" sz="quarter" idx="12"/>
          </p:nvPr>
        </p:nvSpPr>
        <p:spPr/>
        <p:txBody>
          <a:bodyPr/>
          <a:lstStyle/>
          <a:p>
            <a:r>
              <a:rPr lang="en-US"/>
              <a:t>Data Science                                                                K Vydehi, Asst Professor, CSE Dept.</a:t>
            </a:r>
            <a:endParaRPr lang="en-US" dirty="0"/>
          </a:p>
        </p:txBody>
      </p:sp>
      <p:sp>
        <p:nvSpPr>
          <p:cNvPr id="4" name="Slide Number Placeholder 3">
            <a:extLst>
              <a:ext uri="{FF2B5EF4-FFF2-40B4-BE49-F238E27FC236}">
                <a16:creationId xmlns:a16="http://schemas.microsoft.com/office/drawing/2014/main" id="{73EF1F51-0902-546F-C2B1-58E283837CA4}"/>
              </a:ext>
            </a:extLst>
          </p:cNvPr>
          <p:cNvSpPr>
            <a:spLocks noGrp="1"/>
          </p:cNvSpPr>
          <p:nvPr>
            <p:ph type="sldNum" sz="quarter" idx="13"/>
          </p:nvPr>
        </p:nvSpPr>
        <p:spPr/>
        <p:txBody>
          <a:bodyPr/>
          <a:lstStyle/>
          <a:p>
            <a:fld id="{326EF2E3-409D-4D76-AD02-397A36B0DAF9}" type="slidenum">
              <a:rPr lang="en-US" smtClean="0"/>
              <a:pPr/>
              <a:t>15</a:t>
            </a:fld>
            <a:endParaRPr lang="en-US" dirty="0"/>
          </a:p>
        </p:txBody>
      </p:sp>
      <p:pic>
        <p:nvPicPr>
          <p:cNvPr id="8" name="Picture 7">
            <a:extLst>
              <a:ext uri="{FF2B5EF4-FFF2-40B4-BE49-F238E27FC236}">
                <a16:creationId xmlns:a16="http://schemas.microsoft.com/office/drawing/2014/main" id="{7D6D80F1-A4B4-4583-4336-AD74737A484F}"/>
              </a:ext>
            </a:extLst>
          </p:cNvPr>
          <p:cNvPicPr>
            <a:picLocks noChangeAspect="1"/>
          </p:cNvPicPr>
          <p:nvPr/>
        </p:nvPicPr>
        <p:blipFill>
          <a:blip r:embed="rId2"/>
          <a:stretch>
            <a:fillRect/>
          </a:stretch>
        </p:blipFill>
        <p:spPr>
          <a:xfrm>
            <a:off x="7536160" y="1700808"/>
            <a:ext cx="4608511" cy="3766540"/>
          </a:xfrm>
          <a:prstGeom prst="rect">
            <a:avLst/>
          </a:prstGeom>
        </p:spPr>
      </p:pic>
      <p:sp>
        <p:nvSpPr>
          <p:cNvPr id="9" name="TextBox 8">
            <a:extLst>
              <a:ext uri="{FF2B5EF4-FFF2-40B4-BE49-F238E27FC236}">
                <a16:creationId xmlns:a16="http://schemas.microsoft.com/office/drawing/2014/main" id="{F7F7C3E0-7F16-3FBB-7354-5F5B1E3188EB}"/>
              </a:ext>
            </a:extLst>
          </p:cNvPr>
          <p:cNvSpPr txBox="1"/>
          <p:nvPr/>
        </p:nvSpPr>
        <p:spPr>
          <a:xfrm>
            <a:off x="3323692" y="476672"/>
            <a:ext cx="7056784" cy="523220"/>
          </a:xfrm>
          <a:prstGeom prst="rect">
            <a:avLst/>
          </a:prstGeom>
          <a:noFill/>
        </p:spPr>
        <p:txBody>
          <a:bodyPr wrap="square" rtlCol="0">
            <a:spAutoFit/>
          </a:bodyPr>
          <a:lstStyle/>
          <a:p>
            <a:r>
              <a:rPr lang="en-IN" sz="2800" b="1" dirty="0">
                <a:solidFill>
                  <a:schemeClr val="accent2">
                    <a:lumMod val="75000"/>
                  </a:schemeClr>
                </a:solidFill>
                <a:latin typeface="ADLaM Display" panose="02010000000000000000" pitchFamily="2" charset="0"/>
                <a:ea typeface="ADLaM Display" panose="02010000000000000000" pitchFamily="2" charset="0"/>
                <a:cs typeface="ADLaM Display" panose="02010000000000000000" pitchFamily="2" charset="0"/>
              </a:rPr>
              <a:t>VISUALIZATION AND INTERPRETATION</a:t>
            </a:r>
          </a:p>
        </p:txBody>
      </p:sp>
      <p:pic>
        <p:nvPicPr>
          <p:cNvPr id="11" name="Picture 10">
            <a:extLst>
              <a:ext uri="{FF2B5EF4-FFF2-40B4-BE49-F238E27FC236}">
                <a16:creationId xmlns:a16="http://schemas.microsoft.com/office/drawing/2014/main" id="{61478EFC-EC71-B666-42FC-AC781A47BD13}"/>
              </a:ext>
            </a:extLst>
          </p:cNvPr>
          <p:cNvPicPr>
            <a:picLocks noChangeAspect="1"/>
          </p:cNvPicPr>
          <p:nvPr/>
        </p:nvPicPr>
        <p:blipFill>
          <a:blip r:embed="rId3"/>
          <a:stretch>
            <a:fillRect/>
          </a:stretch>
        </p:blipFill>
        <p:spPr>
          <a:xfrm>
            <a:off x="191344" y="3192225"/>
            <a:ext cx="7395127" cy="894211"/>
          </a:xfrm>
          <a:prstGeom prst="rect">
            <a:avLst/>
          </a:prstGeom>
        </p:spPr>
      </p:pic>
    </p:spTree>
    <p:extLst>
      <p:ext uri="{BB962C8B-B14F-4D97-AF65-F5344CB8AC3E}">
        <p14:creationId xmlns:p14="http://schemas.microsoft.com/office/powerpoint/2010/main" val="20072044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C3A2D9-147D-D1AC-0EA2-47D20EB6EB6D}"/>
            </a:ext>
          </a:extLst>
        </p:cNvPr>
        <p:cNvGrpSpPr/>
        <p:nvPr/>
      </p:nvGrpSpPr>
      <p:grpSpPr>
        <a:xfrm>
          <a:off x="0" y="0"/>
          <a:ext cx="0" cy="0"/>
          <a:chOff x="0" y="0"/>
          <a:chExt cx="0" cy="0"/>
        </a:xfrm>
      </p:grpSpPr>
      <p:sp>
        <p:nvSpPr>
          <p:cNvPr id="2" name="Date Placeholder 1">
            <a:extLst>
              <a:ext uri="{FF2B5EF4-FFF2-40B4-BE49-F238E27FC236}">
                <a16:creationId xmlns:a16="http://schemas.microsoft.com/office/drawing/2014/main" id="{08084A9E-8CC4-E6D8-C27B-EBECDD0BC6F0}"/>
              </a:ext>
            </a:extLst>
          </p:cNvPr>
          <p:cNvSpPr>
            <a:spLocks noGrp="1"/>
          </p:cNvSpPr>
          <p:nvPr>
            <p:ph type="dt" sz="half" idx="11"/>
          </p:nvPr>
        </p:nvSpPr>
        <p:spPr/>
        <p:txBody>
          <a:bodyPr/>
          <a:lstStyle/>
          <a:p>
            <a:fld id="{8368060C-F3A5-4600-9262-589A0797613D}" type="datetime1">
              <a:rPr lang="en-IN" smtClean="0"/>
              <a:pPr/>
              <a:t>02/10/26</a:t>
            </a:fld>
            <a:endParaRPr lang="en-US" dirty="0"/>
          </a:p>
        </p:txBody>
      </p:sp>
      <p:sp>
        <p:nvSpPr>
          <p:cNvPr id="3" name="Footer Placeholder 2">
            <a:extLst>
              <a:ext uri="{FF2B5EF4-FFF2-40B4-BE49-F238E27FC236}">
                <a16:creationId xmlns:a16="http://schemas.microsoft.com/office/drawing/2014/main" id="{D9CFE9D3-5663-C7C1-5159-6A6DC579867F}"/>
              </a:ext>
            </a:extLst>
          </p:cNvPr>
          <p:cNvSpPr>
            <a:spLocks noGrp="1"/>
          </p:cNvSpPr>
          <p:nvPr>
            <p:ph type="ftr" sz="quarter" idx="12"/>
          </p:nvPr>
        </p:nvSpPr>
        <p:spPr/>
        <p:txBody>
          <a:bodyPr/>
          <a:lstStyle/>
          <a:p>
            <a:r>
              <a:rPr lang="en-US"/>
              <a:t>Data Science                                                                K Vydehi, Asst Professor, CSE Dept.</a:t>
            </a:r>
            <a:endParaRPr lang="en-US" dirty="0"/>
          </a:p>
        </p:txBody>
      </p:sp>
      <p:sp>
        <p:nvSpPr>
          <p:cNvPr id="4" name="Slide Number Placeholder 3">
            <a:extLst>
              <a:ext uri="{FF2B5EF4-FFF2-40B4-BE49-F238E27FC236}">
                <a16:creationId xmlns:a16="http://schemas.microsoft.com/office/drawing/2014/main" id="{2D55ACA4-ACB3-E6A8-B2B4-66533AB64A32}"/>
              </a:ext>
            </a:extLst>
          </p:cNvPr>
          <p:cNvSpPr>
            <a:spLocks noGrp="1"/>
          </p:cNvSpPr>
          <p:nvPr>
            <p:ph type="sldNum" sz="quarter" idx="13"/>
          </p:nvPr>
        </p:nvSpPr>
        <p:spPr/>
        <p:txBody>
          <a:bodyPr/>
          <a:lstStyle/>
          <a:p>
            <a:fld id="{326EF2E3-409D-4D76-AD02-397A36B0DAF9}" type="slidenum">
              <a:rPr lang="en-US" smtClean="0"/>
              <a:pPr/>
              <a:t>16</a:t>
            </a:fld>
            <a:endParaRPr lang="en-US" dirty="0"/>
          </a:p>
        </p:txBody>
      </p:sp>
      <p:pic>
        <p:nvPicPr>
          <p:cNvPr id="6" name="Picture 5">
            <a:extLst>
              <a:ext uri="{FF2B5EF4-FFF2-40B4-BE49-F238E27FC236}">
                <a16:creationId xmlns:a16="http://schemas.microsoft.com/office/drawing/2014/main" id="{83B8B981-12AD-41CC-BE0F-EEA00E11658C}"/>
              </a:ext>
            </a:extLst>
          </p:cNvPr>
          <p:cNvPicPr>
            <a:picLocks noChangeAspect="1"/>
          </p:cNvPicPr>
          <p:nvPr/>
        </p:nvPicPr>
        <p:blipFill>
          <a:blip r:embed="rId2"/>
          <a:stretch>
            <a:fillRect/>
          </a:stretch>
        </p:blipFill>
        <p:spPr>
          <a:xfrm>
            <a:off x="6852084" y="1771342"/>
            <a:ext cx="5112568" cy="3735978"/>
          </a:xfrm>
          <a:prstGeom prst="rect">
            <a:avLst/>
          </a:prstGeom>
        </p:spPr>
      </p:pic>
      <p:sp>
        <p:nvSpPr>
          <p:cNvPr id="9" name="TextBox 8">
            <a:extLst>
              <a:ext uri="{FF2B5EF4-FFF2-40B4-BE49-F238E27FC236}">
                <a16:creationId xmlns:a16="http://schemas.microsoft.com/office/drawing/2014/main" id="{D9E3D295-5A4B-A77A-FBD9-A4EF54FC0741}"/>
              </a:ext>
            </a:extLst>
          </p:cNvPr>
          <p:cNvSpPr txBox="1"/>
          <p:nvPr/>
        </p:nvSpPr>
        <p:spPr>
          <a:xfrm>
            <a:off x="3323692" y="476672"/>
            <a:ext cx="7056784" cy="523220"/>
          </a:xfrm>
          <a:prstGeom prst="rect">
            <a:avLst/>
          </a:prstGeom>
          <a:noFill/>
        </p:spPr>
        <p:txBody>
          <a:bodyPr wrap="square" rtlCol="0">
            <a:spAutoFit/>
          </a:bodyPr>
          <a:lstStyle/>
          <a:p>
            <a:r>
              <a:rPr lang="en-IN" sz="2800" b="1" dirty="0">
                <a:solidFill>
                  <a:schemeClr val="accent2">
                    <a:lumMod val="75000"/>
                  </a:schemeClr>
                </a:solidFill>
                <a:latin typeface="ADLaM Display" panose="02010000000000000000" pitchFamily="2" charset="0"/>
                <a:ea typeface="ADLaM Display" panose="02010000000000000000" pitchFamily="2" charset="0"/>
                <a:cs typeface="ADLaM Display" panose="02010000000000000000" pitchFamily="2" charset="0"/>
              </a:rPr>
              <a:t>VISUALIZATION AND INTERPRETATION</a:t>
            </a:r>
          </a:p>
        </p:txBody>
      </p:sp>
      <p:pic>
        <p:nvPicPr>
          <p:cNvPr id="7" name="Picture 6">
            <a:extLst>
              <a:ext uri="{FF2B5EF4-FFF2-40B4-BE49-F238E27FC236}">
                <a16:creationId xmlns:a16="http://schemas.microsoft.com/office/drawing/2014/main" id="{46487427-CDBC-FED8-4C3D-5D7E8994E184}"/>
              </a:ext>
            </a:extLst>
          </p:cNvPr>
          <p:cNvPicPr>
            <a:picLocks noChangeAspect="1"/>
          </p:cNvPicPr>
          <p:nvPr/>
        </p:nvPicPr>
        <p:blipFill>
          <a:blip r:embed="rId3"/>
          <a:stretch>
            <a:fillRect/>
          </a:stretch>
        </p:blipFill>
        <p:spPr>
          <a:xfrm>
            <a:off x="407368" y="2830778"/>
            <a:ext cx="6264183" cy="1196444"/>
          </a:xfrm>
          <a:prstGeom prst="rect">
            <a:avLst/>
          </a:prstGeom>
        </p:spPr>
      </p:pic>
    </p:spTree>
    <p:extLst>
      <p:ext uri="{BB962C8B-B14F-4D97-AF65-F5344CB8AC3E}">
        <p14:creationId xmlns:p14="http://schemas.microsoft.com/office/powerpoint/2010/main" val="13669160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00EC6A8-B6B2-4E0B-C387-C957399361C0}"/>
              </a:ext>
            </a:extLst>
          </p:cNvPr>
          <p:cNvSpPr>
            <a:spLocks noGrp="1"/>
          </p:cNvSpPr>
          <p:nvPr>
            <p:ph type="dt" sz="half" idx="11"/>
          </p:nvPr>
        </p:nvSpPr>
        <p:spPr/>
        <p:txBody>
          <a:bodyPr/>
          <a:lstStyle/>
          <a:p>
            <a:fld id="{8368060C-F3A5-4600-9262-589A0797613D}" type="datetime1">
              <a:rPr lang="en-IN" smtClean="0"/>
              <a:pPr/>
              <a:t>02/10/26</a:t>
            </a:fld>
            <a:endParaRPr lang="en-US" dirty="0"/>
          </a:p>
        </p:txBody>
      </p:sp>
      <p:sp>
        <p:nvSpPr>
          <p:cNvPr id="3" name="Footer Placeholder 2">
            <a:extLst>
              <a:ext uri="{FF2B5EF4-FFF2-40B4-BE49-F238E27FC236}">
                <a16:creationId xmlns:a16="http://schemas.microsoft.com/office/drawing/2014/main" id="{314310E7-61AD-D05B-FC27-26BB94E24E49}"/>
              </a:ext>
            </a:extLst>
          </p:cNvPr>
          <p:cNvSpPr>
            <a:spLocks noGrp="1"/>
          </p:cNvSpPr>
          <p:nvPr>
            <p:ph type="ftr" sz="quarter" idx="12"/>
          </p:nvPr>
        </p:nvSpPr>
        <p:spPr/>
        <p:txBody>
          <a:bodyPr/>
          <a:lstStyle/>
          <a:p>
            <a:r>
              <a:rPr lang="en-US"/>
              <a:t>Data Science                                                                K Vydehi, Asst Professor, CSE Dept.</a:t>
            </a:r>
            <a:endParaRPr lang="en-US" dirty="0"/>
          </a:p>
        </p:txBody>
      </p:sp>
      <p:sp>
        <p:nvSpPr>
          <p:cNvPr id="4" name="Slide Number Placeholder 3">
            <a:extLst>
              <a:ext uri="{FF2B5EF4-FFF2-40B4-BE49-F238E27FC236}">
                <a16:creationId xmlns:a16="http://schemas.microsoft.com/office/drawing/2014/main" id="{A60ACBED-973D-CF32-EF37-4F2A20FEF9E4}"/>
              </a:ext>
            </a:extLst>
          </p:cNvPr>
          <p:cNvSpPr>
            <a:spLocks noGrp="1"/>
          </p:cNvSpPr>
          <p:nvPr>
            <p:ph type="sldNum" sz="quarter" idx="13"/>
          </p:nvPr>
        </p:nvSpPr>
        <p:spPr/>
        <p:txBody>
          <a:bodyPr/>
          <a:lstStyle/>
          <a:p>
            <a:fld id="{326EF2E3-409D-4D76-AD02-397A36B0DAF9}" type="slidenum">
              <a:rPr lang="en-US" smtClean="0"/>
              <a:pPr/>
              <a:t>17</a:t>
            </a:fld>
            <a:endParaRPr lang="en-US" dirty="0"/>
          </a:p>
        </p:txBody>
      </p:sp>
      <p:pic>
        <p:nvPicPr>
          <p:cNvPr id="6" name="Picture 5">
            <a:extLst>
              <a:ext uri="{FF2B5EF4-FFF2-40B4-BE49-F238E27FC236}">
                <a16:creationId xmlns:a16="http://schemas.microsoft.com/office/drawing/2014/main" id="{E2D45278-D03E-BCE0-FCF7-2716B22B1B0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98360" y="1900894"/>
            <a:ext cx="6432376" cy="3535289"/>
          </a:xfrm>
          <a:prstGeom prst="rect">
            <a:avLst/>
          </a:prstGeom>
        </p:spPr>
      </p:pic>
      <p:sp>
        <p:nvSpPr>
          <p:cNvPr id="7" name="TextBox 6">
            <a:extLst>
              <a:ext uri="{FF2B5EF4-FFF2-40B4-BE49-F238E27FC236}">
                <a16:creationId xmlns:a16="http://schemas.microsoft.com/office/drawing/2014/main" id="{0239F20A-C7EF-564E-6FF4-AAD61AD52C80}"/>
              </a:ext>
            </a:extLst>
          </p:cNvPr>
          <p:cNvSpPr txBox="1"/>
          <p:nvPr/>
        </p:nvSpPr>
        <p:spPr>
          <a:xfrm>
            <a:off x="3287688" y="457508"/>
            <a:ext cx="7634064" cy="523220"/>
          </a:xfrm>
          <a:prstGeom prst="rect">
            <a:avLst/>
          </a:prstGeom>
          <a:noFill/>
        </p:spPr>
        <p:txBody>
          <a:bodyPr wrap="square">
            <a:spAutoFit/>
          </a:bodyPr>
          <a:lstStyle/>
          <a:p>
            <a:r>
              <a:rPr lang="en-IN" sz="2800" b="1" dirty="0">
                <a:solidFill>
                  <a:schemeClr val="accent2">
                    <a:lumMod val="75000"/>
                  </a:schemeClr>
                </a:solidFill>
                <a:latin typeface="ADLaM Display" panose="02010000000000000000" pitchFamily="2" charset="0"/>
                <a:ea typeface="ADLaM Display" panose="02010000000000000000" pitchFamily="2" charset="0"/>
                <a:cs typeface="ADLaM Display" panose="02010000000000000000" pitchFamily="2" charset="0"/>
              </a:rPr>
              <a:t>VISUALIZATION AND INTERPRETATION</a:t>
            </a:r>
          </a:p>
        </p:txBody>
      </p:sp>
      <p:pic>
        <p:nvPicPr>
          <p:cNvPr id="9" name="Picture 8">
            <a:extLst>
              <a:ext uri="{FF2B5EF4-FFF2-40B4-BE49-F238E27FC236}">
                <a16:creationId xmlns:a16="http://schemas.microsoft.com/office/drawing/2014/main" id="{99A8C499-518B-50A4-2816-ED8686E24D76}"/>
              </a:ext>
            </a:extLst>
          </p:cNvPr>
          <p:cNvPicPr>
            <a:picLocks noChangeAspect="1"/>
          </p:cNvPicPr>
          <p:nvPr/>
        </p:nvPicPr>
        <p:blipFill>
          <a:blip r:embed="rId3"/>
          <a:stretch>
            <a:fillRect/>
          </a:stretch>
        </p:blipFill>
        <p:spPr>
          <a:xfrm>
            <a:off x="191344" y="1246654"/>
            <a:ext cx="5130785" cy="5032116"/>
          </a:xfrm>
          <a:prstGeom prst="rect">
            <a:avLst/>
          </a:prstGeom>
        </p:spPr>
      </p:pic>
    </p:spTree>
    <p:extLst>
      <p:ext uri="{BB962C8B-B14F-4D97-AF65-F5344CB8AC3E}">
        <p14:creationId xmlns:p14="http://schemas.microsoft.com/office/powerpoint/2010/main" val="4440951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24CDC1F-3BBD-AF27-5D77-F62DA400BA0F}"/>
              </a:ext>
            </a:extLst>
          </p:cNvPr>
          <p:cNvSpPr>
            <a:spLocks noGrp="1"/>
          </p:cNvSpPr>
          <p:nvPr>
            <p:ph type="dt" sz="half" idx="11"/>
          </p:nvPr>
        </p:nvSpPr>
        <p:spPr/>
        <p:txBody>
          <a:bodyPr/>
          <a:lstStyle/>
          <a:p>
            <a:fld id="{8368060C-F3A5-4600-9262-589A0797613D}" type="datetime1">
              <a:rPr lang="en-IN" smtClean="0"/>
              <a:pPr/>
              <a:t>02/10/26</a:t>
            </a:fld>
            <a:endParaRPr lang="en-US" dirty="0"/>
          </a:p>
        </p:txBody>
      </p:sp>
      <p:sp>
        <p:nvSpPr>
          <p:cNvPr id="3" name="Footer Placeholder 2">
            <a:extLst>
              <a:ext uri="{FF2B5EF4-FFF2-40B4-BE49-F238E27FC236}">
                <a16:creationId xmlns:a16="http://schemas.microsoft.com/office/drawing/2014/main" id="{C498809A-5E87-1263-7518-85DADF13ACD1}"/>
              </a:ext>
            </a:extLst>
          </p:cNvPr>
          <p:cNvSpPr>
            <a:spLocks noGrp="1"/>
          </p:cNvSpPr>
          <p:nvPr>
            <p:ph type="ftr" sz="quarter" idx="12"/>
          </p:nvPr>
        </p:nvSpPr>
        <p:spPr/>
        <p:txBody>
          <a:bodyPr/>
          <a:lstStyle/>
          <a:p>
            <a:r>
              <a:rPr lang="en-US"/>
              <a:t>Data Science                                                                K Vydehi, Asst Professor, CSE Dept.</a:t>
            </a:r>
            <a:endParaRPr lang="en-US" dirty="0"/>
          </a:p>
        </p:txBody>
      </p:sp>
      <p:sp>
        <p:nvSpPr>
          <p:cNvPr id="4" name="Slide Number Placeholder 3">
            <a:extLst>
              <a:ext uri="{FF2B5EF4-FFF2-40B4-BE49-F238E27FC236}">
                <a16:creationId xmlns:a16="http://schemas.microsoft.com/office/drawing/2014/main" id="{8A020759-DEDA-692F-C820-B7DEAC3DADBF}"/>
              </a:ext>
            </a:extLst>
          </p:cNvPr>
          <p:cNvSpPr>
            <a:spLocks noGrp="1"/>
          </p:cNvSpPr>
          <p:nvPr>
            <p:ph type="sldNum" sz="quarter" idx="13"/>
          </p:nvPr>
        </p:nvSpPr>
        <p:spPr/>
        <p:txBody>
          <a:bodyPr/>
          <a:lstStyle/>
          <a:p>
            <a:fld id="{326EF2E3-409D-4D76-AD02-397A36B0DAF9}" type="slidenum">
              <a:rPr lang="en-US" smtClean="0"/>
              <a:pPr/>
              <a:t>18</a:t>
            </a:fld>
            <a:endParaRPr lang="en-US" dirty="0"/>
          </a:p>
        </p:txBody>
      </p:sp>
      <p:pic>
        <p:nvPicPr>
          <p:cNvPr id="8" name="Picture 7">
            <a:extLst>
              <a:ext uri="{FF2B5EF4-FFF2-40B4-BE49-F238E27FC236}">
                <a16:creationId xmlns:a16="http://schemas.microsoft.com/office/drawing/2014/main" id="{853306CD-BEE5-ED52-D138-D3289EFD592B}"/>
              </a:ext>
            </a:extLst>
          </p:cNvPr>
          <p:cNvPicPr>
            <a:picLocks noChangeAspect="1"/>
          </p:cNvPicPr>
          <p:nvPr/>
        </p:nvPicPr>
        <p:blipFill>
          <a:blip r:embed="rId2"/>
          <a:srcRect r="49320"/>
          <a:stretch>
            <a:fillRect/>
          </a:stretch>
        </p:blipFill>
        <p:spPr>
          <a:xfrm>
            <a:off x="3606805" y="2070407"/>
            <a:ext cx="4506591" cy="4167673"/>
          </a:xfrm>
          <a:prstGeom prst="rect">
            <a:avLst/>
          </a:prstGeom>
        </p:spPr>
      </p:pic>
      <p:sp>
        <p:nvSpPr>
          <p:cNvPr id="6" name="TextBox 5">
            <a:extLst>
              <a:ext uri="{FF2B5EF4-FFF2-40B4-BE49-F238E27FC236}">
                <a16:creationId xmlns:a16="http://schemas.microsoft.com/office/drawing/2014/main" id="{01E218DC-DE28-30A1-CE32-2F0923E431BC}"/>
              </a:ext>
            </a:extLst>
          </p:cNvPr>
          <p:cNvSpPr txBox="1"/>
          <p:nvPr/>
        </p:nvSpPr>
        <p:spPr>
          <a:xfrm>
            <a:off x="3248100" y="466228"/>
            <a:ext cx="7560840" cy="523220"/>
          </a:xfrm>
          <a:prstGeom prst="rect">
            <a:avLst/>
          </a:prstGeom>
          <a:noFill/>
        </p:spPr>
        <p:txBody>
          <a:bodyPr wrap="square">
            <a:spAutoFit/>
          </a:bodyPr>
          <a:lstStyle/>
          <a:p>
            <a:r>
              <a:rPr lang="en-IN" sz="2800" b="1" dirty="0">
                <a:solidFill>
                  <a:schemeClr val="accent2">
                    <a:lumMod val="75000"/>
                  </a:schemeClr>
                </a:solidFill>
                <a:latin typeface="ADLaM Display" panose="02010000000000000000" pitchFamily="2" charset="0"/>
                <a:ea typeface="ADLaM Display" panose="02010000000000000000" pitchFamily="2" charset="0"/>
                <a:cs typeface="ADLaM Display" panose="02010000000000000000" pitchFamily="2" charset="0"/>
              </a:rPr>
              <a:t>VISUALIZATION AND INTERPRETATION</a:t>
            </a:r>
          </a:p>
        </p:txBody>
      </p:sp>
      <p:pic>
        <p:nvPicPr>
          <p:cNvPr id="9" name="Picture 8">
            <a:extLst>
              <a:ext uri="{FF2B5EF4-FFF2-40B4-BE49-F238E27FC236}">
                <a16:creationId xmlns:a16="http://schemas.microsoft.com/office/drawing/2014/main" id="{79DD694F-2C4D-CB15-A87C-EFD5AD185C4E}"/>
              </a:ext>
            </a:extLst>
          </p:cNvPr>
          <p:cNvPicPr>
            <a:picLocks noChangeAspect="1"/>
          </p:cNvPicPr>
          <p:nvPr/>
        </p:nvPicPr>
        <p:blipFill>
          <a:blip r:embed="rId3"/>
          <a:stretch>
            <a:fillRect/>
          </a:stretch>
        </p:blipFill>
        <p:spPr>
          <a:xfrm>
            <a:off x="1447739" y="1288214"/>
            <a:ext cx="8824725" cy="784928"/>
          </a:xfrm>
          <a:prstGeom prst="rect">
            <a:avLst/>
          </a:prstGeom>
        </p:spPr>
      </p:pic>
    </p:spTree>
    <p:extLst>
      <p:ext uri="{BB962C8B-B14F-4D97-AF65-F5344CB8AC3E}">
        <p14:creationId xmlns:p14="http://schemas.microsoft.com/office/powerpoint/2010/main" val="8253771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4FEA32-EB2A-A169-0A34-BF7F952802A4}"/>
            </a:ext>
          </a:extLst>
        </p:cNvPr>
        <p:cNvGrpSpPr/>
        <p:nvPr/>
      </p:nvGrpSpPr>
      <p:grpSpPr>
        <a:xfrm>
          <a:off x="0" y="0"/>
          <a:ext cx="0" cy="0"/>
          <a:chOff x="0" y="0"/>
          <a:chExt cx="0" cy="0"/>
        </a:xfrm>
      </p:grpSpPr>
      <p:sp>
        <p:nvSpPr>
          <p:cNvPr id="2" name="Date Placeholder 1">
            <a:extLst>
              <a:ext uri="{FF2B5EF4-FFF2-40B4-BE49-F238E27FC236}">
                <a16:creationId xmlns:a16="http://schemas.microsoft.com/office/drawing/2014/main" id="{F40E1574-CABB-7BCF-7503-541F709D0C2F}"/>
              </a:ext>
            </a:extLst>
          </p:cNvPr>
          <p:cNvSpPr>
            <a:spLocks noGrp="1"/>
          </p:cNvSpPr>
          <p:nvPr>
            <p:ph type="dt" sz="half" idx="11"/>
          </p:nvPr>
        </p:nvSpPr>
        <p:spPr/>
        <p:txBody>
          <a:bodyPr/>
          <a:lstStyle/>
          <a:p>
            <a:fld id="{8368060C-F3A5-4600-9262-589A0797613D}" type="datetime1">
              <a:rPr lang="en-IN" smtClean="0"/>
              <a:pPr/>
              <a:t>02/10/26</a:t>
            </a:fld>
            <a:endParaRPr lang="en-US" dirty="0"/>
          </a:p>
        </p:txBody>
      </p:sp>
      <p:sp>
        <p:nvSpPr>
          <p:cNvPr id="3" name="Footer Placeholder 2">
            <a:extLst>
              <a:ext uri="{FF2B5EF4-FFF2-40B4-BE49-F238E27FC236}">
                <a16:creationId xmlns:a16="http://schemas.microsoft.com/office/drawing/2014/main" id="{239071AE-5A81-F671-4E57-A4DBA25FB1AB}"/>
              </a:ext>
            </a:extLst>
          </p:cNvPr>
          <p:cNvSpPr>
            <a:spLocks noGrp="1"/>
          </p:cNvSpPr>
          <p:nvPr>
            <p:ph type="ftr" sz="quarter" idx="12"/>
          </p:nvPr>
        </p:nvSpPr>
        <p:spPr/>
        <p:txBody>
          <a:bodyPr/>
          <a:lstStyle/>
          <a:p>
            <a:r>
              <a:rPr lang="en-US"/>
              <a:t>Data Science                                                                K Vydehi, Asst Professor, CSE Dept.</a:t>
            </a:r>
            <a:endParaRPr lang="en-US" dirty="0"/>
          </a:p>
        </p:txBody>
      </p:sp>
      <p:sp>
        <p:nvSpPr>
          <p:cNvPr id="4" name="Slide Number Placeholder 3">
            <a:extLst>
              <a:ext uri="{FF2B5EF4-FFF2-40B4-BE49-F238E27FC236}">
                <a16:creationId xmlns:a16="http://schemas.microsoft.com/office/drawing/2014/main" id="{7DABD7B0-D8F4-CF54-3EC5-DAECC4CD12EA}"/>
              </a:ext>
            </a:extLst>
          </p:cNvPr>
          <p:cNvSpPr>
            <a:spLocks noGrp="1"/>
          </p:cNvSpPr>
          <p:nvPr>
            <p:ph type="sldNum" sz="quarter" idx="13"/>
          </p:nvPr>
        </p:nvSpPr>
        <p:spPr/>
        <p:txBody>
          <a:bodyPr/>
          <a:lstStyle/>
          <a:p>
            <a:fld id="{326EF2E3-409D-4D76-AD02-397A36B0DAF9}" type="slidenum">
              <a:rPr lang="en-US" smtClean="0"/>
              <a:pPr/>
              <a:t>19</a:t>
            </a:fld>
            <a:endParaRPr lang="en-US" dirty="0"/>
          </a:p>
        </p:txBody>
      </p:sp>
      <p:pic>
        <p:nvPicPr>
          <p:cNvPr id="8" name="Picture 7">
            <a:extLst>
              <a:ext uri="{FF2B5EF4-FFF2-40B4-BE49-F238E27FC236}">
                <a16:creationId xmlns:a16="http://schemas.microsoft.com/office/drawing/2014/main" id="{96502C4E-5856-BE15-29F4-43D54C53176A}"/>
              </a:ext>
            </a:extLst>
          </p:cNvPr>
          <p:cNvPicPr>
            <a:picLocks noChangeAspect="1"/>
          </p:cNvPicPr>
          <p:nvPr/>
        </p:nvPicPr>
        <p:blipFill>
          <a:blip r:embed="rId2"/>
          <a:srcRect l="50000"/>
          <a:stretch>
            <a:fillRect/>
          </a:stretch>
        </p:blipFill>
        <p:spPr>
          <a:xfrm>
            <a:off x="3809746" y="2051555"/>
            <a:ext cx="4572508" cy="4286140"/>
          </a:xfrm>
          <a:prstGeom prst="rect">
            <a:avLst/>
          </a:prstGeom>
        </p:spPr>
      </p:pic>
      <p:sp>
        <p:nvSpPr>
          <p:cNvPr id="6" name="TextBox 5">
            <a:extLst>
              <a:ext uri="{FF2B5EF4-FFF2-40B4-BE49-F238E27FC236}">
                <a16:creationId xmlns:a16="http://schemas.microsoft.com/office/drawing/2014/main" id="{575B428E-C41B-0223-9B8C-81B9161A4159}"/>
              </a:ext>
            </a:extLst>
          </p:cNvPr>
          <p:cNvSpPr txBox="1"/>
          <p:nvPr/>
        </p:nvSpPr>
        <p:spPr>
          <a:xfrm>
            <a:off x="3287688" y="476556"/>
            <a:ext cx="7778080" cy="523220"/>
          </a:xfrm>
          <a:prstGeom prst="rect">
            <a:avLst/>
          </a:prstGeom>
          <a:noFill/>
        </p:spPr>
        <p:txBody>
          <a:bodyPr wrap="square">
            <a:spAutoFit/>
          </a:bodyPr>
          <a:lstStyle/>
          <a:p>
            <a:r>
              <a:rPr lang="en-IN" sz="2800" b="1" dirty="0">
                <a:solidFill>
                  <a:schemeClr val="accent2">
                    <a:lumMod val="75000"/>
                  </a:schemeClr>
                </a:solidFill>
                <a:latin typeface="ADLaM Display" panose="02010000000000000000" pitchFamily="2" charset="0"/>
                <a:ea typeface="ADLaM Display" panose="02010000000000000000" pitchFamily="2" charset="0"/>
                <a:cs typeface="ADLaM Display" panose="02010000000000000000" pitchFamily="2" charset="0"/>
              </a:rPr>
              <a:t>VISUALIZATION AND INTERPRETATION</a:t>
            </a:r>
          </a:p>
        </p:txBody>
      </p:sp>
      <p:pic>
        <p:nvPicPr>
          <p:cNvPr id="11" name="Picture 10">
            <a:extLst>
              <a:ext uri="{FF2B5EF4-FFF2-40B4-BE49-F238E27FC236}">
                <a16:creationId xmlns:a16="http://schemas.microsoft.com/office/drawing/2014/main" id="{792C43AC-CD34-D674-8D18-7773320FFD04}"/>
              </a:ext>
            </a:extLst>
          </p:cNvPr>
          <p:cNvPicPr>
            <a:picLocks noChangeAspect="1"/>
          </p:cNvPicPr>
          <p:nvPr/>
        </p:nvPicPr>
        <p:blipFill>
          <a:blip r:embed="rId3"/>
          <a:stretch>
            <a:fillRect/>
          </a:stretch>
        </p:blipFill>
        <p:spPr>
          <a:xfrm>
            <a:off x="2396169" y="1274248"/>
            <a:ext cx="7399661" cy="777307"/>
          </a:xfrm>
          <a:prstGeom prst="rect">
            <a:avLst/>
          </a:prstGeom>
        </p:spPr>
      </p:pic>
    </p:spTree>
    <p:extLst>
      <p:ext uri="{BB962C8B-B14F-4D97-AF65-F5344CB8AC3E}">
        <p14:creationId xmlns:p14="http://schemas.microsoft.com/office/powerpoint/2010/main" val="418261006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7B092A7-C8FE-DDFF-6681-101FCF685C26}"/>
              </a:ext>
            </a:extLst>
          </p:cNvPr>
          <p:cNvSpPr txBox="1"/>
          <p:nvPr/>
        </p:nvSpPr>
        <p:spPr>
          <a:xfrm>
            <a:off x="2855640" y="548680"/>
            <a:ext cx="6054800" cy="769441"/>
          </a:xfrm>
          <a:prstGeom prst="rect">
            <a:avLst/>
          </a:prstGeom>
          <a:noFill/>
        </p:spPr>
        <p:txBody>
          <a:bodyPr wrap="square" rtlCol="0">
            <a:spAutoFit/>
          </a:bodyPr>
          <a:lstStyle/>
          <a:p>
            <a:pPr algn="ctr"/>
            <a:r>
              <a:rPr lang="en-IN" sz="4400" dirty="0">
                <a:solidFill>
                  <a:schemeClr val="accent2">
                    <a:lumMod val="75000"/>
                  </a:schemeClr>
                </a:solidFill>
                <a:latin typeface="ADLaM Display" panose="02010000000000000000" pitchFamily="2" charset="0"/>
                <a:ea typeface="ADLaM Display" panose="02010000000000000000" pitchFamily="2" charset="0"/>
                <a:cs typeface="ADLaM Display" panose="02010000000000000000" pitchFamily="2" charset="0"/>
              </a:rPr>
              <a:t>CONCLUSION</a:t>
            </a:r>
          </a:p>
        </p:txBody>
      </p:sp>
      <p:sp>
        <p:nvSpPr>
          <p:cNvPr id="6" name="TextBox 5">
            <a:extLst>
              <a:ext uri="{FF2B5EF4-FFF2-40B4-BE49-F238E27FC236}">
                <a16:creationId xmlns:a16="http://schemas.microsoft.com/office/drawing/2014/main" id="{327050FF-8130-C4A5-5CC4-84CE300DB268}"/>
              </a:ext>
            </a:extLst>
          </p:cNvPr>
          <p:cNvSpPr txBox="1"/>
          <p:nvPr/>
        </p:nvSpPr>
        <p:spPr>
          <a:xfrm>
            <a:off x="1343472" y="2090172"/>
            <a:ext cx="10081120" cy="2677656"/>
          </a:xfrm>
          <a:prstGeom prst="rect">
            <a:avLst/>
          </a:prstGeom>
          <a:noFill/>
        </p:spPr>
        <p:txBody>
          <a:bodyPr wrap="square" rtlCol="0">
            <a:spAutoFit/>
          </a:bodyPr>
          <a:lstStyle/>
          <a:p>
            <a:pPr marL="285750" lvl="0" indent="-285750">
              <a:buFont typeface="Arial" panose="020B0604020202020204" pitchFamily="34" charset="0"/>
              <a:buChar char="•"/>
            </a:pPr>
            <a:r>
              <a:rPr lang="en-IN" sz="2400" dirty="0"/>
              <a:t>Analyzed building energy consumption and key influencing factors.</a:t>
            </a:r>
          </a:p>
          <a:p>
            <a:pPr marL="285750" lvl="0" indent="-285750">
              <a:buFont typeface="Arial" panose="020B0604020202020204" pitchFamily="34" charset="0"/>
              <a:buChar char="•"/>
            </a:pPr>
            <a:r>
              <a:rPr lang="en-IN" sz="2400" dirty="0"/>
              <a:t>Identified usage patterns based on building characteristics, weather, and time.</a:t>
            </a:r>
          </a:p>
          <a:p>
            <a:pPr marL="285750" lvl="0" indent="-285750">
              <a:buFont typeface="Arial" panose="020B0604020202020204" pitchFamily="34" charset="0"/>
              <a:buChar char="•"/>
            </a:pPr>
            <a:r>
              <a:rPr lang="en-IN" sz="2400" dirty="0"/>
              <a:t>Highlighted opportunities to detect inefficiencies and reduce energy waste.</a:t>
            </a:r>
          </a:p>
          <a:p>
            <a:pPr marL="285750" lvl="0" indent="-285750">
              <a:buFont typeface="Arial" panose="020B0604020202020204" pitchFamily="34" charset="0"/>
              <a:buChar char="•"/>
            </a:pPr>
            <a:r>
              <a:rPr lang="en-IN" sz="2400" dirty="0"/>
              <a:t>Provided insights to optimize energy costs and improve efficiency.</a:t>
            </a:r>
          </a:p>
          <a:p>
            <a:pPr marL="285750" lvl="0" indent="-285750">
              <a:buFont typeface="Arial" panose="020B0604020202020204" pitchFamily="34" charset="0"/>
              <a:buChar char="•"/>
            </a:pPr>
            <a:r>
              <a:rPr lang="en-IN" sz="2400" dirty="0"/>
              <a:t>Demonstrated how data analytics supports sustainable energy management.</a:t>
            </a:r>
          </a:p>
          <a:p>
            <a:pPr algn="just"/>
            <a:endParaRPr lang="en-IN" sz="2400" dirty="0"/>
          </a:p>
        </p:txBody>
      </p:sp>
      <p:sp>
        <p:nvSpPr>
          <p:cNvPr id="2" name="TextBox 1">
            <a:extLst>
              <a:ext uri="{FF2B5EF4-FFF2-40B4-BE49-F238E27FC236}">
                <a16:creationId xmlns:a16="http://schemas.microsoft.com/office/drawing/2014/main" id="{7646B517-7BCD-1846-A85F-0E4B6897CACC}"/>
              </a:ext>
            </a:extLst>
          </p:cNvPr>
          <p:cNvSpPr txBox="1"/>
          <p:nvPr/>
        </p:nvSpPr>
        <p:spPr>
          <a:xfrm>
            <a:off x="3719736" y="5662989"/>
            <a:ext cx="4464496" cy="646331"/>
          </a:xfrm>
          <a:prstGeom prst="rect">
            <a:avLst/>
          </a:prstGeom>
          <a:noFill/>
        </p:spPr>
        <p:txBody>
          <a:bodyPr wrap="square" rtlCol="0">
            <a:spAutoFit/>
          </a:bodyPr>
          <a:lstStyle/>
          <a:p>
            <a:pPr algn="ctr"/>
            <a:r>
              <a:rPr lang="en-IN" sz="3600" b="1" dirty="0">
                <a:solidFill>
                  <a:schemeClr val="accent1">
                    <a:lumMod val="50000"/>
                  </a:schemeClr>
                </a:solidFill>
                <a:latin typeface="ADLaM Display" panose="02010000000000000000" pitchFamily="2" charset="0"/>
                <a:ea typeface="ADLaM Display" panose="02010000000000000000" pitchFamily="2" charset="0"/>
                <a:cs typeface="ADLaM Display" panose="02010000000000000000" pitchFamily="2" charset="0"/>
              </a:rPr>
              <a:t>--- THANK YOU --- </a:t>
            </a:r>
          </a:p>
        </p:txBody>
      </p:sp>
    </p:spTree>
    <p:extLst>
      <p:ext uri="{BB962C8B-B14F-4D97-AF65-F5344CB8AC3E}">
        <p14:creationId xmlns:p14="http://schemas.microsoft.com/office/powerpoint/2010/main" val="412800889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8612</TotalTime>
  <Words>1173</Words>
  <Application>Microsoft Macintosh PowerPoint</Application>
  <PresentationFormat>Widescreen</PresentationFormat>
  <Paragraphs>125</Paragraphs>
  <Slides>20</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20</vt:i4>
      </vt:variant>
    </vt:vector>
  </HeadingPairs>
  <TitlesOfParts>
    <vt:vector size="28" baseType="lpstr">
      <vt:lpstr>ADLaM Display</vt:lpstr>
      <vt:lpstr>Arial</vt:lpstr>
      <vt:lpstr>Calibri</vt:lpstr>
      <vt:lpstr>Calibri Light</vt:lpstr>
      <vt:lpstr>Times New Roman</vt:lpstr>
      <vt:lpstr>Tw Cen MT</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admin</dc:creator>
  <cp:lastModifiedBy>25B11CS517</cp:lastModifiedBy>
  <cp:revision>847</cp:revision>
  <cp:lastPrinted>2023-06-09T04:58:36Z</cp:lastPrinted>
  <dcterms:created xsi:type="dcterms:W3CDTF">2019-12-14T03:50:52Z</dcterms:created>
  <dcterms:modified xsi:type="dcterms:W3CDTF">2026-10-02T16:41:26Z</dcterms:modified>
</cp:coreProperties>
</file>